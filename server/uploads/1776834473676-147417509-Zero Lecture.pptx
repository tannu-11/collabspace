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media/image2.jpg" ContentType="image/jp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310" r:id="rId2"/>
    <p:sldId id="257" r:id="rId3"/>
    <p:sldId id="283" r:id="rId4"/>
    <p:sldId id="284" r:id="rId5"/>
    <p:sldId id="285" r:id="rId6"/>
    <p:sldId id="286" r:id="rId7"/>
    <p:sldId id="292" r:id="rId8"/>
    <p:sldId id="287" r:id="rId9"/>
    <p:sldId id="288" r:id="rId10"/>
    <p:sldId id="289" r:id="rId11"/>
    <p:sldId id="309" r:id="rId12"/>
    <p:sldId id="290" r:id="rId13"/>
    <p:sldId id="291" r:id="rId14"/>
    <p:sldId id="293" r:id="rId15"/>
    <p:sldId id="297" r:id="rId16"/>
    <p:sldId id="298" r:id="rId17"/>
    <p:sldId id="302" r:id="rId18"/>
    <p:sldId id="299" r:id="rId19"/>
    <p:sldId id="306" r:id="rId20"/>
    <p:sldId id="308" r:id="rId21"/>
    <p:sldId id="300" r:id="rId22"/>
    <p:sldId id="301" r:id="rId23"/>
    <p:sldId id="303" r:id="rId24"/>
    <p:sldId id="305" r:id="rId25"/>
  </p:sldIdLst>
  <p:sldSz cx="9144000" cy="5143500" type="screen16x9"/>
  <p:notesSz cx="6858000" cy="9144000"/>
  <p:embeddedFontLst>
    <p:embeddedFont>
      <p:font typeface="Vladimir Script" pitchFamily="66" charset="0"/>
      <p:regular r:id="rId27"/>
    </p:embeddedFont>
    <p:embeddedFont>
      <p:font typeface="Franklin Gothic Medium" pitchFamily="34" charset="0"/>
      <p:regular r:id="rId28"/>
      <p:italic r:id="rId29"/>
    </p:embeddedFont>
    <p:embeddedFont>
      <p:font typeface="Cambria" pitchFamily="18" charset="0"/>
      <p:regular r:id="rId30"/>
      <p:bold r:id="rId31"/>
      <p:italic r:id="rId32"/>
      <p:boldItalic r:id="rId33"/>
    </p:embeddedFont>
    <p:embeddedFont>
      <p:font typeface="Trebuchet MS" pitchFamily="34" charset="0"/>
      <p:regular r:id="rId34"/>
      <p:bold r:id="rId35"/>
      <p:italic r:id="rId36"/>
      <p:boldItalic r:id="rId37"/>
    </p:embeddedFont>
    <p:embeddedFont>
      <p:font typeface="Calibri" pitchFamily="34" charset="0"/>
      <p:regular r:id="rId38"/>
      <p:bold r:id="rId39"/>
      <p:italic r:id="rId40"/>
      <p:boldItalic r:id="rId41"/>
    </p:embeddedFont>
    <p:embeddedFont>
      <p:font typeface="Sitka Small" pitchFamily="2" charset="0"/>
      <p:regular r:id="rId42"/>
      <p:bold r:id="rId43"/>
      <p:italic r:id="rId44"/>
      <p:boldItalic r:id="rId45"/>
    </p:embeddedFont>
    <p:embeddedFont>
      <p:font typeface="Lato" charset="0"/>
      <p:regular r:id="rId46"/>
      <p:bold r:id="rId47"/>
      <p:italic r:id="rId48"/>
      <p:boldItalic r:id="rId49"/>
    </p:embeddedFont>
    <p:embeddedFont>
      <p:font typeface="Tahoma" pitchFamily="34" charset="0"/>
      <p:regular r:id="rId50"/>
      <p:bold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1" d="100"/>
          <a:sy n="121" d="100"/>
        </p:scale>
        <p:origin x="-346"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font" Target="fonts/font24.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font" Target="fonts/font2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5.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7628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0074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7612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8AE2F180-9A0B-4C89-E2A4-C820E350D8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FCB0DF4C-0C0C-F327-13CB-D147B8854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CD3BD526-06AE-0DCC-FB9B-29E2E50FD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29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42D7C363-8D9B-662D-D35E-EF694C156DB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873556C4-1FD6-C1D5-F772-CCFCA35CB2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5B74E6DD-E044-75B0-83F3-00BA217DAD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229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945A4AC1-BC45-B230-13DC-073DE8430F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8BB6971A-2B80-AAD1-7E16-CE25661A6BE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B320B215-7BAE-58D2-B65D-22DC48D55D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D6B046D7-BADE-B187-5827-F12BD2C029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913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935E632B-0ED3-0951-68B5-535D28A6967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8951CA60-71B5-23A7-BB99-C823988EFF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972615F5-42C0-C53D-D491-813A112EF0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8386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3260F2D4-A24E-7A95-2594-7683E100632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35F67E44-D907-228D-3B35-4223196573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179A4BAF-A4E0-9A4F-3DF7-070EC55F4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7979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3DC8C265-20D1-F755-3766-F66BAF71ABF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A99EFDDE-502F-DBD6-B1C4-5CBA4BC50D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A6BDE32E-C219-E742-E9D8-87F250F514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1823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516F18B3-654C-31F0-6DE8-FC243D892BA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0111A54A-6B01-A69A-7043-E2A50A1834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4FD46B85-CC70-8590-B72C-6DA5858233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3537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CAF8D011-1978-0123-5CB2-07F259488BA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1F30FEB0-AB40-4EED-9FDB-BD2BDC5B1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40132642-52DF-B83A-52A1-4C0392323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1119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8D92A11C-8A00-779B-BFC3-76D2DE0C10F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CA75B1F2-17FC-34A4-2071-42192BD168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9BAB25F7-B01F-28CF-7F75-E28450A4D5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11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6D7F29F0-BA33-7ADB-4AC0-0E4C11FF6BD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468FE139-2282-22C9-6440-A222A8567E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156196FD-1CB6-0399-2E77-49B385C27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0947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2913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050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39495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xmlns=""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BD21D255-1544-198E-9CBB-F35608E87DD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2D53D3D3-A794-A0A9-4BE7-D6DB0320E8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B7652EAC-AC9E-0FBA-01B6-302FA67CC7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939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xmlns=""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xmlns=""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xmlns=""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xmlns=""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xmlns=""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xmlns=""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7241" y="77193"/>
            <a:ext cx="461382" cy="741860"/>
          </a:xfrm>
          <a:prstGeom prst="rect">
            <a:avLst/>
          </a:prstGeom>
        </p:spPr>
      </p:pic>
      <p:sp>
        <p:nvSpPr>
          <p:cNvPr id="17" name="bg object 17"/>
          <p:cNvSpPr/>
          <p:nvPr/>
        </p:nvSpPr>
        <p:spPr>
          <a:xfrm>
            <a:off x="6694235" y="5001433"/>
            <a:ext cx="68479" cy="48315"/>
          </a:xfrm>
          <a:custGeom>
            <a:avLst/>
            <a:gdLst/>
            <a:ahLst/>
            <a:cxnLst/>
            <a:rect l="l" t="t" r="r" b="b"/>
            <a:pathLst>
              <a:path w="43179" h="30480">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6567970" y="4995153"/>
            <a:ext cx="40282" cy="60393"/>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6849947" y="4995153"/>
            <a:ext cx="40282" cy="60393"/>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7097897" y="4985087"/>
            <a:ext cx="101712" cy="80524"/>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6997718" y="4995153"/>
            <a:ext cx="322256" cy="60393"/>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7568434" y="5005218"/>
            <a:ext cx="60423"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7427445" y="4995153"/>
            <a:ext cx="322256" cy="60393"/>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7548293" y="4985086"/>
            <a:ext cx="80564" cy="80524"/>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7978041" y="4985086"/>
            <a:ext cx="80564" cy="40262"/>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7857193" y="4995153"/>
            <a:ext cx="322256" cy="60393"/>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 name="Holder 2"/>
          <p:cNvSpPr>
            <a:spLocks noGrp="1"/>
          </p:cNvSpPr>
          <p:nvPr>
            <p:ph type="ftr" sz="quarter" idx="5"/>
          </p:nvPr>
        </p:nvSpPr>
        <p:spPr>
          <a:xfrm>
            <a:off x="3108960" y="4783454"/>
            <a:ext cx="2926080" cy="257174"/>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4"/>
            <a:ext cx="2103120" cy="257174"/>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3581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 Id="rId5" Type="http://schemas.openxmlformats.org/officeDocument/2006/relationships/slide" Target="slide9.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mailto:ankit.e19315@cumail.in"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407787" y="4985087"/>
            <a:ext cx="80564" cy="40262"/>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grpSp>
        <p:nvGrpSpPr>
          <p:cNvPr id="3" name="object 3"/>
          <p:cNvGrpSpPr/>
          <p:nvPr/>
        </p:nvGrpSpPr>
        <p:grpSpPr>
          <a:xfrm>
            <a:off x="7794595" y="4202632"/>
            <a:ext cx="1272909" cy="869664"/>
            <a:chOff x="4914925" y="2651290"/>
            <a:chExt cx="802640" cy="548640"/>
          </a:xfrm>
        </p:grpSpPr>
        <p:sp>
          <p:nvSpPr>
            <p:cNvPr id="4" name="object 4"/>
            <p:cNvSpPr/>
            <p:nvPr/>
          </p:nvSpPr>
          <p:spPr>
            <a:xfrm>
              <a:off x="5603025" y="3175393"/>
              <a:ext cx="20320" cy="20320"/>
            </a:xfrm>
            <a:custGeom>
              <a:avLst/>
              <a:gdLst/>
              <a:ahLst/>
              <a:cxnLst/>
              <a:rect l="l" t="t" r="r" b="b"/>
              <a:pathLst>
                <a:path w="20320" h="20319">
                  <a:moveTo>
                    <a:pt x="0" y="0"/>
                  </a:moveTo>
                  <a:lnTo>
                    <a:pt x="20320" y="20320"/>
                  </a:lnTo>
                </a:path>
              </a:pathLst>
            </a:custGeom>
            <a:ln w="7591">
              <a:solidFill>
                <a:srgbClr val="ADADE0"/>
              </a:solidFill>
            </a:ln>
          </p:spPr>
          <p:txBody>
            <a:bodyPr wrap="square" lIns="0" tIns="0" rIns="0" bIns="0" rtlCol="0"/>
            <a:lstStyle/>
            <a:p>
              <a:endParaRPr/>
            </a:p>
          </p:txBody>
        </p:sp>
        <p:sp>
          <p:nvSpPr>
            <p:cNvPr id="5" name="object 5"/>
            <p:cNvSpPr/>
            <p:nvPr/>
          </p:nvSpPr>
          <p:spPr>
            <a:xfrm>
              <a:off x="5575961" y="3148898"/>
              <a:ext cx="30480" cy="30480"/>
            </a:xfrm>
            <a:custGeom>
              <a:avLst/>
              <a:gdLst/>
              <a:ahLst/>
              <a:cxnLst/>
              <a:rect l="l" t="t" r="r" b="b"/>
              <a:pathLst>
                <a:path w="30479" h="3048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6" name="object 6"/>
            <p:cNvSpPr/>
            <p:nvPr/>
          </p:nvSpPr>
          <p:spPr>
            <a:xfrm>
              <a:off x="5481104" y="314491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4914925" y="2651290"/>
              <a:ext cx="796368" cy="540003"/>
            </a:xfrm>
            <a:prstGeom prst="rect">
              <a:avLst/>
            </a:prstGeom>
          </p:spPr>
        </p:pic>
      </p:grpSp>
      <p:sp>
        <p:nvSpPr>
          <p:cNvPr id="8" name="object 8"/>
          <p:cNvSpPr txBox="1"/>
          <p:nvPr/>
        </p:nvSpPr>
        <p:spPr>
          <a:xfrm>
            <a:off x="5419350" y="-16471"/>
            <a:ext cx="3658607" cy="601920"/>
          </a:xfrm>
          <a:prstGeom prst="rect">
            <a:avLst/>
          </a:prstGeom>
        </p:spPr>
        <p:txBody>
          <a:bodyPr vert="horz" wrap="square" lIns="0" tIns="43295" rIns="0" bIns="0" rtlCol="0">
            <a:spAutoFit/>
          </a:bodyPr>
          <a:lstStyle/>
          <a:p>
            <a:pPr marL="20137" marR="8055" indent="688690">
              <a:lnSpc>
                <a:spcPts val="2141"/>
              </a:lnSpc>
              <a:spcBef>
                <a:spcPts val="341"/>
              </a:spcBef>
            </a:pPr>
            <a:r>
              <a:rPr sz="1900" b="1" spc="-63" dirty="0"/>
              <a:t>Academic</a:t>
            </a:r>
            <a:r>
              <a:rPr sz="1900" b="1" spc="32" dirty="0"/>
              <a:t> </a:t>
            </a:r>
            <a:r>
              <a:rPr sz="1900" b="1" spc="-127" dirty="0"/>
              <a:t>Session</a:t>
            </a:r>
            <a:r>
              <a:rPr sz="1900" b="1" spc="40" dirty="0"/>
              <a:t> </a:t>
            </a:r>
            <a:r>
              <a:rPr sz="1900" b="1" dirty="0"/>
              <a:t>2025-</a:t>
            </a:r>
            <a:r>
              <a:rPr sz="1900" b="1" spc="-40" dirty="0"/>
              <a:t>26 </a:t>
            </a:r>
            <a:r>
              <a:rPr sz="1900" b="1" spc="79" dirty="0"/>
              <a:t>ODD</a:t>
            </a:r>
            <a:r>
              <a:rPr sz="1900" b="1" spc="198" dirty="0"/>
              <a:t> </a:t>
            </a:r>
            <a:r>
              <a:rPr sz="1900" b="1" spc="-55" dirty="0"/>
              <a:t>Semester</a:t>
            </a:r>
            <a:r>
              <a:rPr sz="1900" b="1" spc="190" dirty="0"/>
              <a:t> </a:t>
            </a:r>
            <a:r>
              <a:rPr sz="1900" b="1" dirty="0"/>
              <a:t>JAN-JUNE</a:t>
            </a:r>
            <a:r>
              <a:rPr sz="1900" b="1" spc="198" dirty="0"/>
              <a:t> </a:t>
            </a:r>
            <a:r>
              <a:rPr sz="1900" b="1" spc="-32" dirty="0"/>
              <a:t>2026</a:t>
            </a:r>
            <a:endParaRPr sz="1900"/>
          </a:p>
        </p:txBody>
      </p:sp>
      <p:pic>
        <p:nvPicPr>
          <p:cNvPr id="9" name="object 9"/>
          <p:cNvPicPr/>
          <p:nvPr/>
        </p:nvPicPr>
        <p:blipFill>
          <a:blip r:embed="rId3" cstate="print"/>
          <a:stretch>
            <a:fillRect/>
          </a:stretch>
        </p:blipFill>
        <p:spPr>
          <a:xfrm>
            <a:off x="140031" y="1264210"/>
            <a:ext cx="2545888" cy="2607404"/>
          </a:xfrm>
          <a:prstGeom prst="rect">
            <a:avLst/>
          </a:prstGeom>
        </p:spPr>
      </p:pic>
      <p:sp>
        <p:nvSpPr>
          <p:cNvPr id="10" name="object 10"/>
          <p:cNvSpPr txBox="1"/>
          <p:nvPr/>
        </p:nvSpPr>
        <p:spPr>
          <a:xfrm>
            <a:off x="786247" y="939026"/>
            <a:ext cx="7927485" cy="1147474"/>
          </a:xfrm>
          <a:prstGeom prst="rect">
            <a:avLst/>
          </a:prstGeom>
        </p:spPr>
        <p:txBody>
          <a:bodyPr vert="horz" wrap="square" lIns="0" tIns="43295" rIns="0" bIns="0" rtlCol="0">
            <a:spAutoFit/>
          </a:bodyPr>
          <a:lstStyle/>
          <a:p>
            <a:pPr marL="1131706" marR="1113583" indent="-3021" algn="ctr">
              <a:lnSpc>
                <a:spcPts val="2141"/>
              </a:lnSpc>
              <a:spcBef>
                <a:spcPts val="341"/>
              </a:spcBef>
            </a:pPr>
            <a:r>
              <a:rPr sz="1900" b="1" dirty="0"/>
              <a:t>UNIVERSITY</a:t>
            </a:r>
            <a:r>
              <a:rPr sz="1900" b="1" spc="363" dirty="0"/>
              <a:t> </a:t>
            </a:r>
            <a:r>
              <a:rPr sz="1900" b="1" spc="95" dirty="0"/>
              <a:t>INSTITUTE</a:t>
            </a:r>
            <a:r>
              <a:rPr sz="1900" b="1" spc="363" dirty="0"/>
              <a:t> </a:t>
            </a:r>
            <a:r>
              <a:rPr sz="1900" b="1" dirty="0"/>
              <a:t>OF</a:t>
            </a:r>
            <a:r>
              <a:rPr sz="1900" b="1" spc="363" dirty="0"/>
              <a:t> </a:t>
            </a:r>
            <a:r>
              <a:rPr sz="1900" b="1" spc="-16" dirty="0"/>
              <a:t>ENGINEERING </a:t>
            </a:r>
            <a:r>
              <a:rPr sz="1900" b="1" dirty="0"/>
              <a:t>COMPUTER</a:t>
            </a:r>
            <a:r>
              <a:rPr sz="1900" b="1" spc="285" dirty="0"/>
              <a:t> </a:t>
            </a:r>
            <a:r>
              <a:rPr sz="1900" b="1" dirty="0"/>
              <a:t>SCIENCE</a:t>
            </a:r>
            <a:r>
              <a:rPr sz="1900" b="1" spc="293" dirty="0"/>
              <a:t> </a:t>
            </a:r>
            <a:r>
              <a:rPr sz="1900" b="1" spc="95" dirty="0"/>
              <a:t>AND</a:t>
            </a:r>
            <a:r>
              <a:rPr sz="1900" b="1" spc="285" dirty="0"/>
              <a:t> </a:t>
            </a:r>
            <a:r>
              <a:rPr sz="1900" b="1" dirty="0"/>
              <a:t>ENGINEERING-</a:t>
            </a:r>
            <a:r>
              <a:rPr sz="1900" b="1" spc="293" dirty="0"/>
              <a:t> </a:t>
            </a:r>
            <a:r>
              <a:rPr sz="1900" b="1" spc="55" dirty="0"/>
              <a:t>AIT</a:t>
            </a:r>
            <a:endParaRPr sz="1900" dirty="0"/>
          </a:p>
          <a:p>
            <a:pPr algn="ctr">
              <a:lnSpc>
                <a:spcPts val="2037"/>
              </a:lnSpc>
            </a:pPr>
            <a:r>
              <a:rPr sz="1900" b="1" spc="-63" dirty="0"/>
              <a:t>Bachelor</a:t>
            </a:r>
            <a:r>
              <a:rPr sz="1900" b="1" spc="8" dirty="0"/>
              <a:t> </a:t>
            </a:r>
            <a:r>
              <a:rPr sz="1900" b="1" dirty="0"/>
              <a:t>of</a:t>
            </a:r>
            <a:r>
              <a:rPr sz="1900" b="1" spc="16" dirty="0"/>
              <a:t> </a:t>
            </a:r>
            <a:r>
              <a:rPr sz="1900" b="1" spc="-16" dirty="0"/>
              <a:t>Engineering</a:t>
            </a:r>
            <a:endParaRPr sz="1900" dirty="0"/>
          </a:p>
          <a:p>
            <a:pPr algn="ctr">
              <a:lnSpc>
                <a:spcPts val="2212"/>
              </a:lnSpc>
            </a:pPr>
            <a:r>
              <a:rPr sz="1900" b="1" dirty="0"/>
              <a:t>COMPUTER</a:t>
            </a:r>
            <a:r>
              <a:rPr sz="1900" b="1" spc="317" dirty="0"/>
              <a:t> </a:t>
            </a:r>
            <a:r>
              <a:rPr sz="1900" b="1" dirty="0"/>
              <a:t>SCIENCE</a:t>
            </a:r>
            <a:r>
              <a:rPr sz="1900" b="1" spc="317" dirty="0"/>
              <a:t> </a:t>
            </a:r>
            <a:r>
              <a:rPr sz="1900" b="1" spc="95" dirty="0"/>
              <a:t>AND</a:t>
            </a:r>
            <a:r>
              <a:rPr sz="1900" b="1" spc="317" dirty="0"/>
              <a:t> </a:t>
            </a:r>
            <a:r>
              <a:rPr sz="1900" b="1" dirty="0"/>
              <a:t>ENGINEERING</a:t>
            </a:r>
            <a:r>
              <a:rPr sz="1900" b="1" spc="317" dirty="0"/>
              <a:t> </a:t>
            </a:r>
            <a:r>
              <a:rPr sz="1900" b="1" spc="159" dirty="0"/>
              <a:t>(AIML)/</a:t>
            </a:r>
            <a:r>
              <a:rPr sz="1900" b="1" spc="309" dirty="0"/>
              <a:t> </a:t>
            </a:r>
            <a:r>
              <a:rPr sz="1900" b="1" dirty="0"/>
              <a:t>SEMESTER-</a:t>
            </a:r>
            <a:r>
              <a:rPr sz="1900" b="1" spc="-40" dirty="0"/>
              <a:t>IV</a:t>
            </a:r>
            <a:endParaRPr sz="1900" dirty="0"/>
          </a:p>
        </p:txBody>
      </p:sp>
      <p:sp>
        <p:nvSpPr>
          <p:cNvPr id="11" name="object 11"/>
          <p:cNvSpPr txBox="1"/>
          <p:nvPr/>
        </p:nvSpPr>
        <p:spPr>
          <a:xfrm>
            <a:off x="994164" y="3113647"/>
            <a:ext cx="1253775" cy="311705"/>
          </a:xfrm>
          <a:prstGeom prst="rect">
            <a:avLst/>
          </a:prstGeom>
        </p:spPr>
        <p:txBody>
          <a:bodyPr vert="horz" wrap="square" lIns="0" tIns="19130" rIns="0" bIns="0" rtlCol="0">
            <a:spAutoFit/>
          </a:bodyPr>
          <a:lstStyle/>
          <a:p>
            <a:pPr marL="20137">
              <a:spcBef>
                <a:spcPts val="151"/>
              </a:spcBef>
            </a:pPr>
            <a:r>
              <a:rPr sz="1900" b="1" dirty="0"/>
              <a:t>Unit</a:t>
            </a:r>
            <a:r>
              <a:rPr sz="1900" b="1" spc="190" dirty="0"/>
              <a:t> </a:t>
            </a:r>
            <a:r>
              <a:rPr sz="1900" b="1" dirty="0"/>
              <a:t>No.</a:t>
            </a:r>
            <a:r>
              <a:rPr sz="1900" b="1" spc="436" dirty="0"/>
              <a:t> </a:t>
            </a:r>
            <a:endParaRPr sz="1900" dirty="0"/>
          </a:p>
        </p:txBody>
      </p:sp>
      <p:sp>
        <p:nvSpPr>
          <p:cNvPr id="12" name="object 12"/>
          <p:cNvSpPr txBox="1"/>
          <p:nvPr/>
        </p:nvSpPr>
        <p:spPr>
          <a:xfrm>
            <a:off x="1913392" y="2225997"/>
            <a:ext cx="5927487" cy="1208873"/>
          </a:xfrm>
          <a:prstGeom prst="rect">
            <a:avLst/>
          </a:prstGeom>
        </p:spPr>
        <p:txBody>
          <a:bodyPr vert="horz" wrap="square" lIns="0" tIns="24165" rIns="0" bIns="0" rtlCol="0">
            <a:spAutoFit/>
          </a:bodyPr>
          <a:lstStyle/>
          <a:p>
            <a:pPr marR="1242460" algn="ctr">
              <a:lnSpc>
                <a:spcPts val="2925"/>
              </a:lnSpc>
              <a:spcBef>
                <a:spcPts val="190"/>
              </a:spcBef>
            </a:pPr>
            <a:r>
              <a:rPr sz="2700" b="1" spc="-16" dirty="0"/>
              <a:t>Introduction</a:t>
            </a:r>
            <a:r>
              <a:rPr sz="2700" b="1" spc="270" dirty="0"/>
              <a:t> </a:t>
            </a:r>
            <a:r>
              <a:rPr sz="2700" b="1" dirty="0"/>
              <a:t>to</a:t>
            </a:r>
            <a:r>
              <a:rPr sz="2700" b="1" spc="277" dirty="0"/>
              <a:t> </a:t>
            </a:r>
            <a:r>
              <a:rPr sz="2700" b="1" dirty="0"/>
              <a:t>Data</a:t>
            </a:r>
            <a:r>
              <a:rPr sz="2700" b="1" spc="270" dirty="0"/>
              <a:t> </a:t>
            </a:r>
            <a:r>
              <a:rPr sz="2700" b="1" spc="-79" dirty="0"/>
              <a:t>Science</a:t>
            </a:r>
            <a:endParaRPr sz="2700" dirty="0"/>
          </a:p>
          <a:p>
            <a:pPr marR="1239440" algn="ctr">
              <a:lnSpc>
                <a:spcPts val="2355"/>
              </a:lnSpc>
            </a:pPr>
            <a:r>
              <a:rPr sz="2200" b="1" dirty="0"/>
              <a:t>(SUBJECT</a:t>
            </a:r>
            <a:r>
              <a:rPr sz="2200" b="1" spc="444" dirty="0"/>
              <a:t>  </a:t>
            </a:r>
            <a:r>
              <a:rPr sz="2200" b="1" dirty="0" smtClean="0"/>
              <a:t>CODE-24CST-</a:t>
            </a:r>
            <a:r>
              <a:rPr sz="2200" b="1" spc="-32" dirty="0" smtClean="0"/>
              <a:t>281)</a:t>
            </a:r>
            <a:endParaRPr sz="2200" dirty="0" smtClean="0"/>
          </a:p>
          <a:p>
            <a:pPr marL="1296831">
              <a:spcBef>
                <a:spcPts val="1601"/>
              </a:spcBef>
              <a:tabLst>
                <a:tab pos="4344584" algn="l"/>
              </a:tabLst>
            </a:pPr>
            <a:r>
              <a:rPr sz="1900" b="1" spc="-16" dirty="0" smtClean="0"/>
              <a:t>Chapter</a:t>
            </a:r>
            <a:r>
              <a:rPr sz="1900" b="1" spc="103" dirty="0" smtClean="0"/>
              <a:t> </a:t>
            </a:r>
            <a:r>
              <a:rPr sz="1900" b="1" dirty="0" smtClean="0"/>
              <a:t>No.</a:t>
            </a:r>
            <a:r>
              <a:rPr sz="1900" b="1" spc="309" dirty="0" smtClean="0"/>
              <a:t> </a:t>
            </a:r>
            <a:r>
              <a:rPr sz="1900" b="1" dirty="0" smtClean="0"/>
              <a:t>	</a:t>
            </a:r>
            <a:r>
              <a:rPr sz="1900" b="1" spc="-32" dirty="0" smtClean="0"/>
              <a:t>Lecture</a:t>
            </a:r>
            <a:r>
              <a:rPr sz="1900" b="1" spc="95" dirty="0" smtClean="0"/>
              <a:t> </a:t>
            </a:r>
            <a:r>
              <a:rPr sz="1900" b="1" dirty="0" smtClean="0"/>
              <a:t>No.</a:t>
            </a:r>
            <a:r>
              <a:rPr sz="1900" b="1" spc="301" dirty="0" smtClean="0"/>
              <a:t> </a:t>
            </a:r>
            <a:r>
              <a:rPr sz="1900" b="1" spc="-79" dirty="0" smtClean="0"/>
              <a:t>1</a:t>
            </a:r>
            <a:endParaRPr sz="1900" dirty="0"/>
          </a:p>
        </p:txBody>
      </p:sp>
      <p:sp>
        <p:nvSpPr>
          <p:cNvPr id="13" name="object 13"/>
          <p:cNvSpPr txBox="1"/>
          <p:nvPr/>
        </p:nvSpPr>
        <p:spPr>
          <a:xfrm>
            <a:off x="2396776" y="3442791"/>
            <a:ext cx="4049342" cy="311705"/>
          </a:xfrm>
          <a:prstGeom prst="rect">
            <a:avLst/>
          </a:prstGeom>
        </p:spPr>
        <p:txBody>
          <a:bodyPr vert="horz" wrap="square" lIns="0" tIns="19130" rIns="0" bIns="0" rtlCol="0">
            <a:spAutoFit/>
          </a:bodyPr>
          <a:lstStyle/>
          <a:p>
            <a:pPr marL="20137">
              <a:spcBef>
                <a:spcPts val="151"/>
              </a:spcBef>
            </a:pPr>
            <a:r>
              <a:rPr sz="1900" b="1" spc="-32" dirty="0" smtClean="0"/>
              <a:t>Topic:</a:t>
            </a:r>
            <a:r>
              <a:rPr sz="1900" b="1" spc="323" dirty="0" smtClean="0"/>
              <a:t> </a:t>
            </a:r>
            <a:endParaRPr sz="1900" dirty="0"/>
          </a:p>
        </p:txBody>
      </p:sp>
      <p:sp>
        <p:nvSpPr>
          <p:cNvPr id="14" name="object 14"/>
          <p:cNvSpPr/>
          <p:nvPr/>
        </p:nvSpPr>
        <p:spPr>
          <a:xfrm>
            <a:off x="4038747" y="5051983"/>
            <a:ext cx="79557" cy="0"/>
          </a:xfrm>
          <a:custGeom>
            <a:avLst/>
            <a:gdLst/>
            <a:ahLst/>
            <a:cxnLst/>
            <a:rect l="l" t="t" r="r" b="b"/>
            <a:pathLst>
              <a:path w="50164">
                <a:moveTo>
                  <a:pt x="0" y="0"/>
                </a:moveTo>
                <a:lnTo>
                  <a:pt x="50101" y="0"/>
                </a:lnTo>
              </a:path>
            </a:pathLst>
          </a:custGeom>
          <a:ln w="5054">
            <a:solidFill>
              <a:srgbClr val="000000"/>
            </a:solidFill>
          </a:ln>
        </p:spPr>
        <p:txBody>
          <a:bodyPr wrap="square" lIns="0" tIns="0" rIns="0" bIns="0" rtlCol="0"/>
          <a:lstStyle/>
          <a:p>
            <a:endParaRPr/>
          </a:p>
        </p:txBody>
      </p:sp>
      <p:sp>
        <p:nvSpPr>
          <p:cNvPr id="15" name="object 15"/>
          <p:cNvSpPr txBox="1"/>
          <p:nvPr/>
        </p:nvSpPr>
        <p:spPr>
          <a:xfrm>
            <a:off x="57019" y="4038060"/>
            <a:ext cx="5257800" cy="311705"/>
          </a:xfrm>
          <a:prstGeom prst="rect">
            <a:avLst/>
          </a:prstGeom>
        </p:spPr>
        <p:txBody>
          <a:bodyPr vert="horz" wrap="square" lIns="0" tIns="19130" rIns="0" bIns="0" rtlCol="0">
            <a:spAutoFit/>
          </a:bodyPr>
          <a:lstStyle/>
          <a:p>
            <a:pPr marL="20137">
              <a:spcBef>
                <a:spcPts val="151"/>
              </a:spcBef>
            </a:pPr>
            <a:r>
              <a:rPr sz="1900" b="1" spc="-32" dirty="0"/>
              <a:t>Faculty-</a:t>
            </a:r>
            <a:r>
              <a:rPr sz="1900" b="1" spc="79" dirty="0"/>
              <a:t> </a:t>
            </a:r>
            <a:r>
              <a:rPr sz="1900" b="1" dirty="0"/>
              <a:t>Dr</a:t>
            </a:r>
            <a:r>
              <a:rPr sz="1900" b="1" spc="79" dirty="0"/>
              <a:t> </a:t>
            </a:r>
            <a:r>
              <a:rPr sz="1900" b="1" dirty="0"/>
              <a:t>Ankit</a:t>
            </a:r>
            <a:r>
              <a:rPr sz="1900" b="1" spc="79" dirty="0"/>
              <a:t> </a:t>
            </a:r>
            <a:r>
              <a:rPr sz="1900" b="1" spc="-16" dirty="0"/>
              <a:t>Kumar</a:t>
            </a:r>
            <a:r>
              <a:rPr sz="1900" b="1" spc="87" dirty="0"/>
              <a:t> </a:t>
            </a:r>
            <a:r>
              <a:rPr sz="1900" b="1" spc="-16" dirty="0"/>
              <a:t>Dubey</a:t>
            </a:r>
            <a:r>
              <a:rPr sz="1900" b="1" spc="79" dirty="0"/>
              <a:t> </a:t>
            </a:r>
            <a:r>
              <a:rPr sz="1900" b="1" dirty="0"/>
              <a:t>E</a:t>
            </a:r>
            <a:r>
              <a:rPr sz="1900" b="1" spc="127" dirty="0"/>
              <a:t> </a:t>
            </a:r>
            <a:r>
              <a:rPr sz="1900" b="1" spc="-63" dirty="0"/>
              <a:t>Code-</a:t>
            </a:r>
            <a:r>
              <a:rPr sz="1900" b="1" spc="-16" dirty="0"/>
              <a:t>19315</a:t>
            </a:r>
            <a:endParaRPr sz="1900" dirty="0"/>
          </a:p>
        </p:txBody>
      </p:sp>
      <p:sp>
        <p:nvSpPr>
          <p:cNvPr id="16" name="object 16"/>
          <p:cNvSpPr txBox="1"/>
          <p:nvPr/>
        </p:nvSpPr>
        <p:spPr>
          <a:xfrm>
            <a:off x="6022151" y="4054196"/>
            <a:ext cx="2186302" cy="312031"/>
          </a:xfrm>
          <a:prstGeom prst="rect">
            <a:avLst/>
          </a:prstGeom>
        </p:spPr>
        <p:txBody>
          <a:bodyPr vert="horz" wrap="square" lIns="0" tIns="19130" rIns="0" bIns="0" rtlCol="0">
            <a:spAutoFit/>
          </a:bodyPr>
          <a:lstStyle/>
          <a:p>
            <a:pPr marL="20137">
              <a:spcBef>
                <a:spcPts val="151"/>
              </a:spcBef>
            </a:pPr>
            <a:r>
              <a:rPr sz="1900" b="1" u="sng" spc="-79" dirty="0">
                <a:hlinkClick r:id="rId4" action="ppaction://hlinksldjump"/>
              </a:rPr>
              <a:t>Associate</a:t>
            </a:r>
            <a:r>
              <a:rPr sz="1900" b="1" u="sng" spc="55" dirty="0"/>
              <a:t> </a:t>
            </a:r>
            <a:r>
              <a:rPr sz="1900" b="1" u="sng" spc="-95" dirty="0">
                <a:hlinkClick r:id="rId4" action="ppaction://hlinksldjump"/>
              </a:rPr>
              <a:t>Pr</a:t>
            </a:r>
            <a:r>
              <a:rPr sz="1900" b="1" u="sng" spc="-95" dirty="0">
                <a:uFill>
                  <a:solidFill>
                    <a:srgbClr val="D6D6EF"/>
                  </a:solidFill>
                </a:uFill>
              </a:rPr>
              <a:t>o</a:t>
            </a:r>
            <a:r>
              <a:rPr sz="1900" b="1" u="sng" spc="-95" dirty="0">
                <a:hlinkClick r:id="rId5" action="ppaction://hlinksldjump"/>
              </a:rPr>
              <a:t>fes</a:t>
            </a:r>
            <a:r>
              <a:rPr sz="1900" b="1" u="sng" spc="-95" dirty="0">
                <a:uFill>
                  <a:solidFill>
                    <a:srgbClr val="ADADE0"/>
                  </a:solidFill>
                </a:uFill>
              </a:rPr>
              <a:t>s</a:t>
            </a:r>
            <a:r>
              <a:rPr sz="1900" b="1" u="sng" spc="-95" dirty="0">
                <a:hlinkClick r:id="rId5" action="ppaction://hlinksldjump"/>
              </a:rPr>
              <a:t>o</a:t>
            </a:r>
            <a:r>
              <a:rPr sz="1900" b="1" u="sng" spc="-95" dirty="0"/>
              <a:t>r</a:t>
            </a:r>
            <a:endParaRPr sz="1900" u="sng" dirty="0"/>
          </a:p>
        </p:txBody>
      </p:sp>
    </p:spTree>
    <p:extLst>
      <p:ext uri="{BB962C8B-B14F-4D97-AF65-F5344CB8AC3E}">
        <p14:creationId xmlns:p14="http://schemas.microsoft.com/office/powerpoint/2010/main" val="6665247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pSp>
        <p:nvGrpSpPr>
          <p:cNvPr id="108" name="Google Shape;108;p2"/>
          <p:cNvGrpSpPr/>
          <p:nvPr/>
        </p:nvGrpSpPr>
        <p:grpSpPr>
          <a:xfrm>
            <a:off x="748144" y="218172"/>
            <a:ext cx="8277101" cy="444600"/>
            <a:chOff x="0" y="6299"/>
            <a:chExt cx="5580934" cy="444600"/>
          </a:xfrm>
          <a:noFill/>
        </p:grpSpPr>
        <p:sp>
          <p:nvSpPr>
            <p:cNvPr id="109" name="Google Shape;109;p2"/>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100">
                <a:solidFill>
                  <a:schemeClr val="bg2"/>
                </a:solidFill>
                <a:latin typeface="Tahoma" pitchFamily="34" charset="0"/>
                <a:ea typeface="Tahoma" pitchFamily="34" charset="0"/>
                <a:cs typeface="Tahoma" pitchFamily="34" charset="0"/>
              </a:endParaRPr>
            </a:p>
          </p:txBody>
        </p:sp>
        <p:sp>
          <p:nvSpPr>
            <p:cNvPr id="110" name="Google Shape;110;p2"/>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mj-lt"/>
                  <a:ea typeface="Tahoma" pitchFamily="34" charset="0"/>
                  <a:cs typeface="Tahoma" pitchFamily="34" charset="0"/>
                  <a:sym typeface="Arial"/>
                </a:rPr>
                <a:t>Vision of University </a:t>
              </a:r>
              <a:endParaRPr sz="3200" b="0" i="0" u="none" strike="noStrike" cap="none" dirty="0">
                <a:solidFill>
                  <a:schemeClr val="bg2"/>
                </a:solidFill>
                <a:latin typeface="+mj-lt"/>
                <a:ea typeface="Tahoma" pitchFamily="34" charset="0"/>
                <a:cs typeface="Tahoma" pitchFamily="34" charset="0"/>
                <a:sym typeface="Arial"/>
              </a:endParaRPr>
            </a:p>
          </p:txBody>
        </p:sp>
      </p:grpSp>
      <p:sp>
        <p:nvSpPr>
          <p:cNvPr id="111" name="Google Shape;111;p2"/>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1800" b="0" i="0" u="none" strike="noStrike" cap="none" dirty="0">
                <a:solidFill>
                  <a:schemeClr val="bg2"/>
                </a:solidFill>
                <a:latin typeface="Tahoma" pitchFamily="34" charset="0"/>
                <a:ea typeface="Tahoma" pitchFamily="34" charset="0"/>
                <a:cs typeface="Tahoma" pitchFamily="34" charset="0"/>
                <a:sym typeface="Times New Roman"/>
              </a:rPr>
              <a:t> </a:t>
            </a:r>
            <a:endParaRPr sz="1800" b="1" i="0" u="none" strike="noStrike" cap="none" dirty="0">
              <a:solidFill>
                <a:schemeClr val="bg2"/>
              </a:solidFill>
              <a:latin typeface="Tahoma" pitchFamily="34" charset="0"/>
              <a:ea typeface="Tahoma" pitchFamily="34" charset="0"/>
              <a:cs typeface="Tahoma" pitchFamily="34" charset="0"/>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1800" b="0" i="0" u="none" strike="noStrike" cap="none" dirty="0">
                <a:solidFill>
                  <a:schemeClr val="bg2"/>
                </a:solidFill>
                <a:latin typeface="Tahoma" pitchFamily="34" charset="0"/>
                <a:ea typeface="Tahoma" pitchFamily="34" charset="0"/>
                <a:cs typeface="Tahoma" pitchFamily="34" charset="0"/>
                <a:sym typeface="Times New Roman"/>
              </a:rPr>
              <a:t> </a:t>
            </a:r>
            <a:endParaRPr sz="1800" b="0" i="0" u="none" dirty="0">
              <a:solidFill>
                <a:schemeClr val="bg2"/>
              </a:solidFill>
              <a:latin typeface="Tahoma" pitchFamily="34" charset="0"/>
              <a:ea typeface="Tahoma" pitchFamily="34" charset="0"/>
              <a:cs typeface="Tahoma" pitchFamily="34" charset="0"/>
              <a:sym typeface="Times New Roman"/>
            </a:endParaRPr>
          </a:p>
        </p:txBody>
      </p:sp>
      <p:sp>
        <p:nvSpPr>
          <p:cNvPr id="113" name="Google Shape;113;p2"/>
          <p:cNvSpPr txBox="1"/>
          <p:nvPr/>
        </p:nvSpPr>
        <p:spPr>
          <a:xfrm>
            <a:off x="83127" y="1101387"/>
            <a:ext cx="8942119" cy="147728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u="none" strike="noStrike" cap="none" dirty="0">
                <a:solidFill>
                  <a:schemeClr val="bg2"/>
                </a:solidFill>
                <a:latin typeface="Tahoma" pitchFamily="34" charset="0"/>
                <a:ea typeface="Tahoma" pitchFamily="34" charset="0"/>
                <a:cs typeface="Tahoma" pitchFamily="34" charset="0"/>
                <a:sym typeface="Arial"/>
              </a:rPr>
              <a:t>“To be globally recognized as a Centre of Excellence for Research, Innovation, Entrepreneurship and disseminating knowledge by providing inspirational learning to produce professional leaders for serving the society.”</a:t>
            </a:r>
            <a:endParaRPr sz="2000" dirty="0">
              <a:solidFill>
                <a:schemeClr val="bg2"/>
              </a:solidFill>
              <a:latin typeface="Tahoma" pitchFamily="34" charset="0"/>
              <a:ea typeface="Tahoma" pitchFamily="34" charset="0"/>
              <a:cs typeface="Tahoma" pitchFamily="34" charset="0"/>
            </a:endParaRPr>
          </a:p>
        </p:txBody>
      </p:sp>
      <p:sp>
        <p:nvSpPr>
          <p:cNvPr id="2" name="TextBox 1"/>
          <p:cNvSpPr txBox="1"/>
          <p:nvPr/>
        </p:nvSpPr>
        <p:spPr>
          <a:xfrm>
            <a:off x="8709003" y="85987"/>
            <a:ext cx="261610" cy="261610"/>
          </a:xfrm>
          <a:prstGeom prst="rect">
            <a:avLst/>
          </a:prstGeom>
          <a:noFill/>
        </p:spPr>
        <p:txBody>
          <a:bodyPr wrap="none" rtlCol="0">
            <a:spAutoFit/>
          </a:bodyPr>
          <a:lstStyle/>
          <a:p>
            <a:r>
              <a:rPr lang="en-IN" sz="1100" dirty="0">
                <a:latin typeface="Tahoma" pitchFamily="34" charset="0"/>
                <a:ea typeface="Tahoma" pitchFamily="34" charset="0"/>
                <a:cs typeface="Tahoma" pitchFamily="34" charset="0"/>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xmlns=""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latin typeface="Tahoma" pitchFamily="34" charset="0"/>
                <a:ea typeface="Tahoma" pitchFamily="34" charset="0"/>
                <a:cs typeface="Tahoma" pitchFamily="34" charset="0"/>
              </a:endParaRPr>
            </a:p>
          </p:txBody>
        </p:sp>
        <p:sp>
          <p:nvSpPr>
            <p:cNvPr id="110" name="Google Shape;110;p2">
              <a:extLst>
                <a:ext uri="{FF2B5EF4-FFF2-40B4-BE49-F238E27FC236}">
                  <a16:creationId xmlns:a16="http://schemas.microsoft.com/office/drawing/2014/main" xmlns=""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Tahoma" pitchFamily="34" charset="0"/>
                  <a:ea typeface="Tahoma" pitchFamily="34" charset="0"/>
                  <a:cs typeface="Tahoma" pitchFamily="34" charset="0"/>
                  <a:sym typeface="Arial"/>
                </a:rPr>
                <a:t>Mission of University</a:t>
              </a:r>
            </a:p>
          </p:txBody>
        </p:sp>
      </p:grpSp>
      <p:sp>
        <p:nvSpPr>
          <p:cNvPr id="111" name="Google Shape;111;p2">
            <a:extLst>
              <a:ext uri="{FF2B5EF4-FFF2-40B4-BE49-F238E27FC236}">
                <a16:creationId xmlns:a16="http://schemas.microsoft.com/office/drawing/2014/main" xmlns=""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182F60C0-9493-6D30-C2FB-A190B5DAFBD4}"/>
              </a:ext>
            </a:extLst>
          </p:cNvPr>
          <p:cNvSpPr txBox="1"/>
          <p:nvPr/>
        </p:nvSpPr>
        <p:spPr>
          <a:xfrm>
            <a:off x="83125" y="1082770"/>
            <a:ext cx="8942119" cy="310850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u="none" strike="noStrike" cap="none" dirty="0">
                <a:solidFill>
                  <a:schemeClr val="bg2"/>
                </a:solidFill>
                <a:latin typeface="Tahoma" pitchFamily="34" charset="0"/>
                <a:ea typeface="Tahoma" pitchFamily="34" charset="0"/>
                <a:cs typeface="Tahoma" pitchFamily="34" charset="0"/>
                <a:sym typeface="Arial"/>
              </a:rPr>
              <a:t>M1 : </a:t>
            </a:r>
            <a:r>
              <a:rPr lang="en-US" sz="2800" b="0" i="0" u="none" strike="noStrike" cap="none" dirty="0">
                <a:solidFill>
                  <a:schemeClr val="bg2"/>
                </a:solidFill>
                <a:latin typeface="Tahoma" pitchFamily="34" charset="0"/>
                <a:ea typeface="Tahoma" pitchFamily="34" charset="0"/>
                <a:cs typeface="Tahoma" pitchFamily="34" charset="0"/>
                <a:sym typeface="Arial"/>
              </a:rPr>
              <a:t>Providing world class infrastructure, renowned academicians and ideal environment for Research, Innovation, Consultancy and Entrepreneurship relevant to the society.</a:t>
            </a:r>
          </a:p>
          <a:p>
            <a:pPr marL="0" marR="0" lvl="0" indent="0" algn="just" rtl="0">
              <a:spcBef>
                <a:spcPts val="0"/>
              </a:spcBef>
              <a:spcAft>
                <a:spcPts val="0"/>
              </a:spcAft>
              <a:buNone/>
            </a:pPr>
            <a:r>
              <a:rPr lang="en-US" sz="2800" b="1" i="0" u="none" strike="noStrike" cap="none" dirty="0">
                <a:solidFill>
                  <a:schemeClr val="bg2"/>
                </a:solidFill>
                <a:latin typeface="Tahoma" pitchFamily="34" charset="0"/>
                <a:ea typeface="Tahoma" pitchFamily="34" charset="0"/>
                <a:cs typeface="Tahoma" pitchFamily="34" charset="0"/>
                <a:sym typeface="Arial"/>
              </a:rPr>
              <a:t>M2 : </a:t>
            </a:r>
            <a:r>
              <a:rPr lang="en-US" sz="2800" b="0" i="0" u="none" strike="noStrike" cap="none" dirty="0">
                <a:solidFill>
                  <a:schemeClr val="bg2"/>
                </a:solidFill>
                <a:latin typeface="Tahoma" pitchFamily="34" charset="0"/>
                <a:ea typeface="Tahoma" pitchFamily="34" charset="0"/>
                <a:cs typeface="Tahoma" pitchFamily="34" charset="0"/>
                <a:sym typeface="Arial"/>
              </a:rPr>
              <a:t>Offering programs &amp; courses in consonance with National policies for nation building and meeting global challenges.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2</a:t>
            </a:r>
          </a:p>
        </p:txBody>
      </p:sp>
    </p:spTree>
    <p:extLst>
      <p:ext uri="{BB962C8B-B14F-4D97-AF65-F5344CB8AC3E}">
        <p14:creationId xmlns:p14="http://schemas.microsoft.com/office/powerpoint/2010/main" val="1932313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xmlns=""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Tahoma" pitchFamily="34" charset="0"/>
                  <a:ea typeface="Tahoma" pitchFamily="34" charset="0"/>
                  <a:cs typeface="Tahoma" pitchFamily="34" charset="0"/>
                  <a:sym typeface="Arial"/>
                </a:rPr>
                <a:t>Mission of University</a:t>
              </a:r>
            </a:p>
          </p:txBody>
        </p:sp>
      </p:grpSp>
      <p:sp>
        <p:nvSpPr>
          <p:cNvPr id="111" name="Google Shape;111;p2">
            <a:extLst>
              <a:ext uri="{FF2B5EF4-FFF2-40B4-BE49-F238E27FC236}">
                <a16:creationId xmlns:a16="http://schemas.microsoft.com/office/drawing/2014/main" xmlns=""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3427E39E-1443-8E67-323E-AC3515D4A144}"/>
              </a:ext>
            </a:extLst>
          </p:cNvPr>
          <p:cNvSpPr txBox="1"/>
          <p:nvPr/>
        </p:nvSpPr>
        <p:spPr>
          <a:xfrm>
            <a:off x="83127" y="1089514"/>
            <a:ext cx="8942119" cy="35824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Tahoma" pitchFamily="34" charset="0"/>
                <a:ea typeface="Tahoma" pitchFamily="34" charset="0"/>
                <a:cs typeface="Tahoma" pitchFamily="34" charset="0"/>
                <a:sym typeface="Arial"/>
              </a:rPr>
              <a:t>M3</a:t>
            </a:r>
            <a:r>
              <a:rPr lang="en-US" sz="2800" i="0" u="none" strike="noStrike" cap="none" dirty="0">
                <a:solidFill>
                  <a:schemeClr val="bg2"/>
                </a:solidFill>
                <a:latin typeface="Tahoma" pitchFamily="34" charset="0"/>
                <a:ea typeface="Tahoma" pitchFamily="34" charset="0"/>
                <a:cs typeface="Tahoma" pitchFamily="34" charset="0"/>
                <a:sym typeface="Arial"/>
              </a:rPr>
              <a:t> :	Designing Curriculum to match International standards, needs of Industry, civil 	society and for inculcation of traits of Creative Thinking and Critical Analysis as well as Human and Ethical values.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Tahoma" pitchFamily="34" charset="0"/>
                <a:ea typeface="Tahoma" pitchFamily="34" charset="0"/>
                <a:cs typeface="Tahoma" pitchFamily="34" charset="0"/>
                <a:sym typeface="Arial"/>
              </a:rPr>
              <a:t>M4 </a:t>
            </a:r>
            <a:r>
              <a:rPr lang="en-US" sz="2800" i="0" u="none" strike="noStrike" cap="none" dirty="0">
                <a:solidFill>
                  <a:schemeClr val="bg2"/>
                </a:solidFill>
                <a:latin typeface="Tahoma" pitchFamily="34" charset="0"/>
                <a:ea typeface="Tahoma" pitchFamily="34" charset="0"/>
                <a:cs typeface="Tahoma" pitchFamily="34" charset="0"/>
                <a:sym typeface="Arial"/>
              </a:rPr>
              <a:t>:	Ensuring students delight by meeting their aspirations through blended learning, corporate mentoring, professional grooming, flexible curriculum and healthy atmosphere based on co-curricular and extra-curricular activities.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3</a:t>
            </a:r>
          </a:p>
        </p:txBody>
      </p:sp>
    </p:spTree>
    <p:extLst>
      <p:ext uri="{BB962C8B-B14F-4D97-AF65-F5344CB8AC3E}">
        <p14:creationId xmlns:p14="http://schemas.microsoft.com/office/powerpoint/2010/main" val="111057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B8FA9E54-824C-3174-92D1-1FD55557D5B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EA721AF1-4121-990B-D3BC-3A69461EE53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xmlns="" id="{A2839E68-8CC4-454C-1CA9-8CC8B94AE13A}"/>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AEB27271-7D91-E3E7-B4A8-A483F805DA4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xmlns="" id="{1A9B100B-BAD8-99A1-3211-6CBBD09F111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8516A7AF-FEFF-1208-4D57-1C31C5F7E7B9}"/>
              </a:ext>
            </a:extLst>
          </p:cNvPr>
          <p:cNvSpPr txBox="1"/>
          <p:nvPr/>
        </p:nvSpPr>
        <p:spPr>
          <a:xfrm>
            <a:off x="83127" y="1089517"/>
            <a:ext cx="8942119" cy="241908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M5</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Creating a scientific, transparent and objective examination/evaluation system to ensure an ideal certification.</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M6</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Establishing strategic relationships with leading National and International corporates and universities for academic as well as research collaborations.</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4</a:t>
            </a:r>
          </a:p>
        </p:txBody>
      </p:sp>
    </p:spTree>
    <p:extLst>
      <p:ext uri="{BB962C8B-B14F-4D97-AF65-F5344CB8AC3E}">
        <p14:creationId xmlns:p14="http://schemas.microsoft.com/office/powerpoint/2010/main" val="1211972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CA46449-103B-2CB3-E783-17367956C9A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84166334-C828-AD3D-C0BC-F44CA2987782}"/>
              </a:ext>
            </a:extLst>
          </p:cNvPr>
          <p:cNvGrpSpPr/>
          <p:nvPr/>
        </p:nvGrpSpPr>
        <p:grpSpPr>
          <a:xfrm>
            <a:off x="771896" y="218172"/>
            <a:ext cx="8158348" cy="444600"/>
            <a:chOff x="0" y="6299"/>
            <a:chExt cx="5580934" cy="444600"/>
          </a:xfrm>
          <a:noFill/>
        </p:grpSpPr>
        <p:sp>
          <p:nvSpPr>
            <p:cNvPr id="109" name="Google Shape;109;p2">
              <a:extLst>
                <a:ext uri="{FF2B5EF4-FFF2-40B4-BE49-F238E27FC236}">
                  <a16:creationId xmlns:a16="http://schemas.microsoft.com/office/drawing/2014/main" xmlns="" id="{DD9B08A7-769B-C34B-B089-27CB3484F37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916722A6-EB51-DD67-909C-CF9EC7E57A4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University</a:t>
              </a:r>
            </a:p>
          </p:txBody>
        </p:sp>
      </p:grpSp>
      <p:sp>
        <p:nvSpPr>
          <p:cNvPr id="111" name="Google Shape;111;p2">
            <a:extLst>
              <a:ext uri="{FF2B5EF4-FFF2-40B4-BE49-F238E27FC236}">
                <a16:creationId xmlns:a16="http://schemas.microsoft.com/office/drawing/2014/main" xmlns="" id="{93079442-C689-D16E-FD88-DB31772825B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45CA01FA-06C1-B691-2467-D2AFA3915D19}"/>
              </a:ext>
            </a:extLst>
          </p:cNvPr>
          <p:cNvSpPr txBox="1"/>
          <p:nvPr/>
        </p:nvSpPr>
        <p:spPr>
          <a:xfrm>
            <a:off x="83127" y="1089512"/>
            <a:ext cx="8942119" cy="241908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M7: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Contributing for creation of healthy, vibrant and sustainable society by involving in Institutional Social Responsibility (ISR) activities like rural development, welfare of 	senior citizens, women empowerment, community service, health and hygiene awareness and environmental protection.</a:t>
            </a: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5</a:t>
            </a:r>
          </a:p>
        </p:txBody>
      </p:sp>
    </p:spTree>
    <p:extLst>
      <p:ext uri="{BB962C8B-B14F-4D97-AF65-F5344CB8AC3E}">
        <p14:creationId xmlns:p14="http://schemas.microsoft.com/office/powerpoint/2010/main" val="319249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28E7EC62-47A6-0446-A91D-ECD79632D1B7}"/>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xmlns=""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76925805-914E-BA70-5D3C-8341ECCFCA4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Vision of Department</a:t>
              </a:r>
            </a:p>
          </p:txBody>
        </p:sp>
      </p:grpSp>
      <p:sp>
        <p:nvSpPr>
          <p:cNvPr id="111" name="Google Shape;111;p2">
            <a:extLst>
              <a:ext uri="{FF2B5EF4-FFF2-40B4-BE49-F238E27FC236}">
                <a16:creationId xmlns:a16="http://schemas.microsoft.com/office/drawing/2014/main" xmlns="" id="{DA8A9E1A-C5D3-C012-9EAF-104944754B4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8F2DF282-8D00-4EFA-4D08-6B9ABBAA7A52}"/>
              </a:ext>
            </a:extLst>
          </p:cNvPr>
          <p:cNvSpPr txBox="1"/>
          <p:nvPr/>
        </p:nvSpPr>
        <p:spPr>
          <a:xfrm>
            <a:off x="83127" y="1101387"/>
            <a:ext cx="8942119" cy="2834582"/>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be recognized as a leading department through effective teaching practices and excellence in research and innovation for creating competent professionals with ethics, values and entrepreneurial attitude to deliver service to society and to meet the current industry standards at the global level.</a:t>
            </a:r>
          </a:p>
          <a:p>
            <a:pPr marL="0" marR="0" lvl="0" indent="0" algn="just" rtl="0">
              <a:lnSpc>
                <a:spcPct val="90000"/>
              </a:lnSpc>
              <a:spcBef>
                <a:spcPts val="0"/>
              </a:spcBef>
              <a:spcAft>
                <a:spcPts val="0"/>
              </a:spcAft>
              <a:buNone/>
            </a:pPr>
            <a:endParaRPr lang="en-US"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6</a:t>
            </a:r>
          </a:p>
        </p:txBody>
      </p:sp>
    </p:spTree>
    <p:extLst>
      <p:ext uri="{BB962C8B-B14F-4D97-AF65-F5344CB8AC3E}">
        <p14:creationId xmlns:p14="http://schemas.microsoft.com/office/powerpoint/2010/main" val="1833566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xmlns=""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Mission of Department</a:t>
              </a:r>
            </a:p>
          </p:txBody>
        </p:sp>
      </p:grpSp>
      <p:sp>
        <p:nvSpPr>
          <p:cNvPr id="111" name="Google Shape;111;p2">
            <a:extLst>
              <a:ext uri="{FF2B5EF4-FFF2-40B4-BE49-F238E27FC236}">
                <a16:creationId xmlns:a16="http://schemas.microsoft.com/office/drawing/2014/main" xmlns=""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7EC51C08-00CA-303F-88CF-6761C177812F}"/>
              </a:ext>
            </a:extLst>
          </p:cNvPr>
          <p:cNvSpPr txBox="1"/>
          <p:nvPr/>
        </p:nvSpPr>
        <p:spPr>
          <a:xfrm>
            <a:off x="83127" y="1101387"/>
            <a:ext cx="8942119" cy="3637879"/>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M1</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provide practical knowledge using state-of-the-art technological support for the experiential learning of our students.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M2</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provide industry recommended curriculum and transparent assessment for quality learning experiences.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M3</a:t>
            </a:r>
            <a:r>
              <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	To create global linkages for interdisciplinary collaborative learning and research.</a:t>
            </a: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7</a:t>
            </a:r>
          </a:p>
        </p:txBody>
      </p:sp>
    </p:spTree>
    <p:extLst>
      <p:ext uri="{BB962C8B-B14F-4D97-AF65-F5344CB8AC3E}">
        <p14:creationId xmlns:p14="http://schemas.microsoft.com/office/powerpoint/2010/main" val="192231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xmlns=""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rtl="0">
                <a:spcBef>
                  <a:spcPts val="0"/>
                </a:spcBef>
                <a:spcAft>
                  <a:spcPts val="0"/>
                </a:spcAft>
                <a:buNone/>
              </a:pPr>
              <a:endParaRPr sz="1200">
                <a:solidFill>
                  <a:schemeClr val="bg2"/>
                </a:solidFill>
              </a:endParaRPr>
            </a:p>
          </p:txBody>
        </p:sp>
        <p:sp>
          <p:nvSpPr>
            <p:cNvPr id="110" name="Google Shape;110;p2">
              <a:extLst>
                <a:ext uri="{FF2B5EF4-FFF2-40B4-BE49-F238E27FC236}">
                  <a16:creationId xmlns:a16="http://schemas.microsoft.com/office/drawing/2014/main" xmlns=""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rtl="0">
                <a:lnSpc>
                  <a:spcPct val="90000"/>
                </a:lnSpc>
                <a:spcBef>
                  <a:spcPts val="0"/>
                </a:spcBef>
                <a:spcAft>
                  <a:spcPts val="0"/>
                </a:spcAft>
                <a:buClr>
                  <a:srgbClr val="000000"/>
                </a:buClr>
                <a:buSzPts val="1900"/>
                <a:buFont typeface="Arial"/>
                <a:buNone/>
              </a:pPr>
              <a:r>
                <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Educational Objectives (PEOs)</a:t>
              </a:r>
            </a:p>
          </p:txBody>
        </p:sp>
      </p:grpSp>
      <p:sp>
        <p:nvSpPr>
          <p:cNvPr id="111" name="Google Shape;111;p2">
            <a:extLst>
              <a:ext uri="{FF2B5EF4-FFF2-40B4-BE49-F238E27FC236}">
                <a16:creationId xmlns:a16="http://schemas.microsoft.com/office/drawing/2014/main" xmlns=""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5B5257C9-FDBE-6196-88C3-8C562A0CC922}"/>
              </a:ext>
            </a:extLst>
          </p:cNvPr>
          <p:cNvSpPr txBox="1"/>
          <p:nvPr/>
        </p:nvSpPr>
        <p:spPr>
          <a:xfrm>
            <a:off x="83127" y="1101387"/>
            <a:ext cx="8942119" cy="4025677"/>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PEO 1: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produce xxx graduate engineers with an ability to comprehend, understand and analyze real life problems for providing sustainable solutions in the light of disruptive technologies.</a:t>
            </a:r>
          </a:p>
          <a:p>
            <a:pPr marL="0" marR="0" lvl="0" indent="0" algn="just" rtl="0">
              <a:lnSpc>
                <a:spcPct val="90000"/>
              </a:lnSpc>
              <a:spcBef>
                <a:spcPts val="0"/>
              </a:spcBef>
              <a:spcAft>
                <a:spcPts val="0"/>
              </a:spcAft>
              <a:buNone/>
            </a:pPr>
            <a:r>
              <a:rPr lang="en-US" sz="28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PEO 2: </a:t>
            </a:r>
            <a:r>
              <a:rPr lang="en-US" sz="28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To inculcate life-long learning skills in graduates preparing them for work in changing environments and multidisciplinary teams in order to enhance their capability being globally employable.</a:t>
            </a:r>
          </a:p>
          <a:p>
            <a:pPr marL="0" marR="0" lvl="0" indent="0" algn="just" rtl="0">
              <a:lnSpc>
                <a:spcPct val="90000"/>
              </a:lnSpc>
              <a:spcBef>
                <a:spcPts val="0"/>
              </a:spcBef>
              <a:spcAft>
                <a:spcPts val="0"/>
              </a:spcAft>
              <a:buNone/>
            </a:pPr>
            <a:r>
              <a:rPr lang="en-US" sz="3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
            </a:r>
            <a:br>
              <a:rPr lang="en-US" sz="3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br>
            <a:endParaRPr lang="en-US" sz="3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8</a:t>
            </a:r>
          </a:p>
        </p:txBody>
      </p:sp>
    </p:spTree>
    <p:extLst>
      <p:ext uri="{BB962C8B-B14F-4D97-AF65-F5344CB8AC3E}">
        <p14:creationId xmlns:p14="http://schemas.microsoft.com/office/powerpoint/2010/main" val="3027036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22C1B04-48BA-9B3E-DE96-E1B49F6D47A6}"/>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407F5783-3A08-A3C8-F798-B77C3C4AD382}"/>
              </a:ext>
            </a:extLst>
          </p:cNvPr>
          <p:cNvGrpSpPr/>
          <p:nvPr/>
        </p:nvGrpSpPr>
        <p:grpSpPr>
          <a:xfrm>
            <a:off x="748146" y="218172"/>
            <a:ext cx="8277100" cy="444600"/>
            <a:chOff x="0" y="6299"/>
            <a:chExt cx="5580934" cy="444600"/>
          </a:xfrm>
          <a:noFill/>
        </p:grpSpPr>
        <p:sp>
          <p:nvSpPr>
            <p:cNvPr id="109" name="Google Shape;109;p2">
              <a:extLst>
                <a:ext uri="{FF2B5EF4-FFF2-40B4-BE49-F238E27FC236}">
                  <a16:creationId xmlns:a16="http://schemas.microsoft.com/office/drawing/2014/main" xmlns="" id="{A6FB020D-BE12-134E-233A-248AFBD0B90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FDAE8DDF-74F4-FD0C-A89C-F6CF4E4DAFD7}"/>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Outcome (POs)</a:t>
              </a:r>
            </a:p>
          </p:txBody>
        </p:sp>
      </p:grpSp>
      <p:sp>
        <p:nvSpPr>
          <p:cNvPr id="111" name="Google Shape;111;p2">
            <a:extLst>
              <a:ext uri="{FF2B5EF4-FFF2-40B4-BE49-F238E27FC236}">
                <a16:creationId xmlns:a16="http://schemas.microsoft.com/office/drawing/2014/main" xmlns="" id="{C53AD737-C38A-DB49-529A-50587D64BBD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284052" cy="307777"/>
          </a:xfrm>
          <a:prstGeom prst="rect">
            <a:avLst/>
          </a:prstGeom>
          <a:noFill/>
        </p:spPr>
        <p:txBody>
          <a:bodyPr wrap="none" rtlCol="0">
            <a:spAutoFit/>
          </a:bodyPr>
          <a:lstStyle/>
          <a:p>
            <a:r>
              <a:rPr lang="en-IN" dirty="0"/>
              <a:t>9</a:t>
            </a:r>
          </a:p>
        </p:txBody>
      </p:sp>
      <p:pic>
        <p:nvPicPr>
          <p:cNvPr id="5" name="Picture 4">
            <a:extLst>
              <a:ext uri="{FF2B5EF4-FFF2-40B4-BE49-F238E27FC236}">
                <a16:creationId xmlns:a16="http://schemas.microsoft.com/office/drawing/2014/main" xmlns="" id="{1F87FAF9-452E-68C9-DCEE-A96DDDA3BB62}"/>
              </a:ext>
            </a:extLst>
          </p:cNvPr>
          <p:cNvPicPr>
            <a:picLocks noChangeAspect="1"/>
          </p:cNvPicPr>
          <p:nvPr/>
        </p:nvPicPr>
        <p:blipFill>
          <a:blip r:embed="rId3"/>
          <a:stretch>
            <a:fillRect/>
          </a:stretch>
        </p:blipFill>
        <p:spPr>
          <a:xfrm>
            <a:off x="439605" y="1169824"/>
            <a:ext cx="8553450" cy="3733800"/>
          </a:xfrm>
          <a:prstGeom prst="rect">
            <a:avLst/>
          </a:prstGeom>
        </p:spPr>
      </p:pic>
    </p:spTree>
    <p:extLst>
      <p:ext uri="{BB962C8B-B14F-4D97-AF65-F5344CB8AC3E}">
        <p14:creationId xmlns:p14="http://schemas.microsoft.com/office/powerpoint/2010/main" val="134388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2982B497-DACC-DCEB-3681-3118D0AA482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E2058B2D-1287-DADD-C2D9-3E0EEC6F5E8B}"/>
              </a:ext>
            </a:extLst>
          </p:cNvPr>
          <p:cNvGrpSpPr/>
          <p:nvPr/>
        </p:nvGrpSpPr>
        <p:grpSpPr>
          <a:xfrm>
            <a:off x="748146" y="218172"/>
            <a:ext cx="8277100" cy="444600"/>
            <a:chOff x="0" y="6299"/>
            <a:chExt cx="5580934" cy="444600"/>
          </a:xfrm>
          <a:noFill/>
        </p:grpSpPr>
        <p:sp>
          <p:nvSpPr>
            <p:cNvPr id="109" name="Google Shape;109;p2">
              <a:extLst>
                <a:ext uri="{FF2B5EF4-FFF2-40B4-BE49-F238E27FC236}">
                  <a16:creationId xmlns:a16="http://schemas.microsoft.com/office/drawing/2014/main" xmlns="" id="{6F5A3682-21FE-054A-C0D2-6455E2C58D7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F80D7EB7-9F74-4D88-DD4D-6957627C8002}"/>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Outcome (POs)</a:t>
              </a:r>
            </a:p>
          </p:txBody>
        </p:sp>
      </p:grpSp>
      <p:sp>
        <p:nvSpPr>
          <p:cNvPr id="111" name="Google Shape;111;p2">
            <a:extLst>
              <a:ext uri="{FF2B5EF4-FFF2-40B4-BE49-F238E27FC236}">
                <a16:creationId xmlns:a16="http://schemas.microsoft.com/office/drawing/2014/main" xmlns="" id="{7136B57B-30CD-84BB-DB6C-FA8067C8601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xmlns="" id="{88B9A6EB-7865-E621-3CDC-B08E9F10A9A5}"/>
              </a:ext>
            </a:extLst>
          </p:cNvPr>
          <p:cNvSpPr txBox="1"/>
          <p:nvPr/>
        </p:nvSpPr>
        <p:spPr>
          <a:xfrm>
            <a:off x="8709003" y="85987"/>
            <a:ext cx="284052" cy="307777"/>
          </a:xfrm>
          <a:prstGeom prst="rect">
            <a:avLst/>
          </a:prstGeom>
          <a:noFill/>
        </p:spPr>
        <p:txBody>
          <a:bodyPr wrap="none" rtlCol="0">
            <a:spAutoFit/>
          </a:bodyPr>
          <a:lstStyle/>
          <a:p>
            <a:r>
              <a:rPr lang="en-IN" dirty="0"/>
              <a:t>9</a:t>
            </a:r>
          </a:p>
        </p:txBody>
      </p:sp>
      <p:pic>
        <p:nvPicPr>
          <p:cNvPr id="6" name="Picture 5">
            <a:extLst>
              <a:ext uri="{FF2B5EF4-FFF2-40B4-BE49-F238E27FC236}">
                <a16:creationId xmlns:a16="http://schemas.microsoft.com/office/drawing/2014/main" xmlns="" id="{A17FF9E1-EB05-3B46-46FC-6875C82AD048}"/>
              </a:ext>
            </a:extLst>
          </p:cNvPr>
          <p:cNvPicPr>
            <a:picLocks noChangeAspect="1"/>
          </p:cNvPicPr>
          <p:nvPr/>
        </p:nvPicPr>
        <p:blipFill>
          <a:blip r:embed="rId3"/>
          <a:stretch>
            <a:fillRect/>
          </a:stretch>
        </p:blipFill>
        <p:spPr>
          <a:xfrm>
            <a:off x="382455" y="1593625"/>
            <a:ext cx="8610600" cy="2743200"/>
          </a:xfrm>
          <a:prstGeom prst="rect">
            <a:avLst/>
          </a:prstGeom>
        </p:spPr>
      </p:pic>
    </p:spTree>
    <p:extLst>
      <p:ext uri="{BB962C8B-B14F-4D97-AF65-F5344CB8AC3E}">
        <p14:creationId xmlns:p14="http://schemas.microsoft.com/office/powerpoint/2010/main" val="228403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5E2126F6-B101-41A9-5DB6-C3C0085D9EF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E852FB00-EB7A-7B9A-98AF-9771095CD22E}"/>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57780BB8-2E8A-6BB0-E690-C788486DADA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02C1E1C4-89DC-F2F4-5CE3-54CE2AFB0E8F}"/>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Program Specific Outcome (PSOs)</a:t>
              </a:r>
            </a:p>
          </p:txBody>
        </p:sp>
      </p:grpSp>
      <p:sp>
        <p:nvSpPr>
          <p:cNvPr id="7" name="TextBox 6"/>
          <p:cNvSpPr txBox="1"/>
          <p:nvPr/>
        </p:nvSpPr>
        <p:spPr>
          <a:xfrm>
            <a:off x="8709002" y="85987"/>
            <a:ext cx="434998" cy="307777"/>
          </a:xfrm>
          <a:prstGeom prst="rect">
            <a:avLst/>
          </a:prstGeom>
          <a:noFill/>
        </p:spPr>
        <p:txBody>
          <a:bodyPr wrap="square" rtlCol="0">
            <a:spAutoFit/>
          </a:bodyPr>
          <a:lstStyle/>
          <a:p>
            <a:r>
              <a:rPr lang="en-IN" dirty="0"/>
              <a:t>10</a:t>
            </a:r>
          </a:p>
        </p:txBody>
      </p:sp>
      <p:sp>
        <p:nvSpPr>
          <p:cNvPr id="4" name="Google Shape;111;p2">
            <a:extLst>
              <a:ext uri="{FF2B5EF4-FFF2-40B4-BE49-F238E27FC236}">
                <a16:creationId xmlns:a16="http://schemas.microsoft.com/office/drawing/2014/main" xmlns="" id="{94A6AD42-F398-A4FC-66EB-96BCE6D57A5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nSpc>
                <a:spcPct val="100000"/>
              </a:lnSpc>
              <a:spcBef>
                <a:spcPts val="0"/>
              </a:spcBef>
              <a:buNone/>
            </a:pPr>
            <a:r>
              <a:rPr lang="en-US" dirty="0">
                <a:solidFill>
                  <a:schemeClr val="bg2"/>
                </a:solidFill>
              </a:rPr>
              <a:t>PSO1  The graduating student will be able to apply computing and         engineering principles to develop software solutions and innovative and interactive applications. </a:t>
            </a:r>
            <a:br>
              <a:rPr lang="en-US" dirty="0">
                <a:solidFill>
                  <a:schemeClr val="bg2"/>
                </a:solidFill>
              </a:rPr>
            </a:br>
            <a:endParaRPr lang="en-US" dirty="0">
              <a:solidFill>
                <a:schemeClr val="bg2"/>
              </a:solidFill>
            </a:endParaRPr>
          </a:p>
          <a:p>
            <a:pPr marL="342900" lvl="0" indent="-342900">
              <a:lnSpc>
                <a:spcPct val="100000"/>
              </a:lnSpc>
              <a:spcBef>
                <a:spcPts val="0"/>
              </a:spcBef>
              <a:buNone/>
            </a:pPr>
            <a:r>
              <a:rPr lang="en-US" dirty="0">
                <a:solidFill>
                  <a:schemeClr val="bg2"/>
                </a:solidFill>
              </a:rPr>
              <a:t>PSO2  The graduating student will be able to understand and learn with the contemporary trends in industrial settings and there by innovate novel solutions to existing problems. </a:t>
            </a:r>
            <a:br>
              <a:rPr lang="en-US" dirty="0">
                <a:solidFill>
                  <a:schemeClr val="bg2"/>
                </a:solidFill>
              </a:rPr>
            </a:br>
            <a:endParaRPr lang="en-US" dirty="0">
              <a:solidFill>
                <a:schemeClr val="bg2"/>
              </a:solidFill>
            </a:endParaRPr>
          </a:p>
          <a:p>
            <a:pPr marL="342900" lvl="0" indent="-342900">
              <a:lnSpc>
                <a:spcPct val="100000"/>
              </a:lnSpc>
              <a:spcBef>
                <a:spcPts val="0"/>
              </a:spcBef>
              <a:buNone/>
            </a:pPr>
            <a:r>
              <a:rPr lang="en-US" dirty="0">
                <a:solidFill>
                  <a:schemeClr val="bg2"/>
                </a:solidFill>
              </a:rPr>
              <a:t>PSO3  The graduating student will be able to design, implement and integrate engineering solutions with an understanding of professional, legal, managerial and financial issues</a:t>
            </a:r>
            <a:endParaRPr sz="2400" b="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058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A5379942-D42B-ADBD-9A8E-31EF24CC28E3}"/>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xmlns="" id="{ACC4C74B-FA37-D3D4-992E-5D82C0A6AE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4" name="TextBox 3"/>
          <p:cNvSpPr txBox="1"/>
          <p:nvPr/>
        </p:nvSpPr>
        <p:spPr>
          <a:xfrm>
            <a:off x="8709003" y="85987"/>
            <a:ext cx="383438" cy="307777"/>
          </a:xfrm>
          <a:prstGeom prst="rect">
            <a:avLst/>
          </a:prstGeom>
          <a:noFill/>
        </p:spPr>
        <p:txBody>
          <a:bodyPr wrap="none" rtlCol="0">
            <a:spAutoFit/>
          </a:bodyPr>
          <a:lstStyle/>
          <a:p>
            <a:r>
              <a:rPr lang="en-IN" dirty="0"/>
              <a:t>11</a:t>
            </a:r>
          </a:p>
        </p:txBody>
      </p:sp>
      <p:graphicFrame>
        <p:nvGraphicFramePr>
          <p:cNvPr id="3" name="Table 2">
            <a:extLst>
              <a:ext uri="{FF2B5EF4-FFF2-40B4-BE49-F238E27FC236}">
                <a16:creationId xmlns:a16="http://schemas.microsoft.com/office/drawing/2014/main" xmlns="" id="{152EC922-C950-483A-B9F8-AD96B1B5437B}"/>
              </a:ext>
            </a:extLst>
          </p:cNvPr>
          <p:cNvGraphicFramePr>
            <a:graphicFrameLocks noGrp="1"/>
          </p:cNvGraphicFramePr>
          <p:nvPr>
            <p:extLst>
              <p:ext uri="{D42A27DB-BD31-4B8C-83A1-F6EECF244321}">
                <p14:modId xmlns:p14="http://schemas.microsoft.com/office/powerpoint/2010/main" val="4204590981"/>
              </p:ext>
            </p:extLst>
          </p:nvPr>
        </p:nvGraphicFramePr>
        <p:xfrm>
          <a:off x="1371600" y="393764"/>
          <a:ext cx="6640285" cy="4272576"/>
        </p:xfrm>
        <a:graphic>
          <a:graphicData uri="http://schemas.openxmlformats.org/drawingml/2006/table">
            <a:tbl>
              <a:tblPr>
                <a:tableStyleId>{97377635-EB9D-4884-B79A-0D259F93817B}</a:tableStyleId>
              </a:tblPr>
              <a:tblGrid>
                <a:gridCol w="798584">
                  <a:extLst>
                    <a:ext uri="{9D8B030D-6E8A-4147-A177-3AD203B41FA5}">
                      <a16:colId xmlns:a16="http://schemas.microsoft.com/office/drawing/2014/main" xmlns="" val="2153641180"/>
                    </a:ext>
                  </a:extLst>
                </a:gridCol>
                <a:gridCol w="1104891">
                  <a:extLst>
                    <a:ext uri="{9D8B030D-6E8A-4147-A177-3AD203B41FA5}">
                      <a16:colId xmlns:a16="http://schemas.microsoft.com/office/drawing/2014/main" xmlns="" val="1865767083"/>
                    </a:ext>
                  </a:extLst>
                </a:gridCol>
                <a:gridCol w="3763193">
                  <a:extLst>
                    <a:ext uri="{9D8B030D-6E8A-4147-A177-3AD203B41FA5}">
                      <a16:colId xmlns:a16="http://schemas.microsoft.com/office/drawing/2014/main" xmlns="" val="3203224548"/>
                    </a:ext>
                  </a:extLst>
                </a:gridCol>
                <a:gridCol w="973617">
                  <a:extLst>
                    <a:ext uri="{9D8B030D-6E8A-4147-A177-3AD203B41FA5}">
                      <a16:colId xmlns:a16="http://schemas.microsoft.com/office/drawing/2014/main" xmlns="" val="1616068614"/>
                    </a:ext>
                  </a:extLst>
                </a:gridCol>
              </a:tblGrid>
              <a:tr h="152592">
                <a:tc>
                  <a:txBody>
                    <a:bodyPr/>
                    <a:lstStyle/>
                    <a:p>
                      <a:pPr algn="l" fontAlgn="ctr"/>
                      <a:r>
                        <a:rPr lang="en-US" sz="700" b="1" u="none" strike="noStrike" dirty="0">
                          <a:solidFill>
                            <a:schemeClr val="bg2"/>
                          </a:solidFill>
                          <a:effectLst/>
                        </a:rPr>
                        <a:t>Date</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Day</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Activity</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Category</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924522636"/>
                  </a:ext>
                </a:extLst>
              </a:tr>
              <a:tr h="152592">
                <a:tc>
                  <a:txBody>
                    <a:bodyPr/>
                    <a:lstStyle/>
                    <a:p>
                      <a:pPr algn="l" fontAlgn="ctr"/>
                      <a:r>
                        <a:rPr lang="en-US" sz="700" b="1" u="none" strike="noStrike" dirty="0">
                          <a:solidFill>
                            <a:schemeClr val="bg2"/>
                          </a:solidFill>
                          <a:effectLst/>
                        </a:rPr>
                        <a:t>05.01.2026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Start of Even Semester - 2nd &amp; 4th Year [All Programs]</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784361974"/>
                  </a:ext>
                </a:extLst>
              </a:tr>
              <a:tr h="152592">
                <a:tc>
                  <a:txBody>
                    <a:bodyPr/>
                    <a:lstStyle/>
                    <a:p>
                      <a:pPr algn="l" fontAlgn="ctr"/>
                      <a:r>
                        <a:rPr lang="en-US" sz="700" b="1" u="none" strike="noStrike" dirty="0">
                          <a:solidFill>
                            <a:schemeClr val="bg2"/>
                          </a:solidFill>
                          <a:effectLst/>
                        </a:rPr>
                        <a:t>06.01.2026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Tue</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Start of Even Semester - 1st, 3rd &amp; 5th Year [All Programs]</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736267775"/>
                  </a:ext>
                </a:extLst>
              </a:tr>
              <a:tr h="152592">
                <a:tc>
                  <a:txBody>
                    <a:bodyPr/>
                    <a:lstStyle/>
                    <a:p>
                      <a:pPr algn="l" fontAlgn="ctr"/>
                      <a:r>
                        <a:rPr lang="en-US" sz="700" b="1" u="none" strike="noStrike" dirty="0">
                          <a:solidFill>
                            <a:schemeClr val="bg2"/>
                          </a:solidFill>
                          <a:effectLst/>
                        </a:rPr>
                        <a:t>10.01.2026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Sat</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 Day for Students of 1st, 3rd &amp; 5th Year</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737505026"/>
                  </a:ext>
                </a:extLst>
              </a:tr>
              <a:tr h="152592">
                <a:tc>
                  <a:txBody>
                    <a:bodyPr/>
                    <a:lstStyle/>
                    <a:p>
                      <a:pPr algn="l" fontAlgn="ctr"/>
                      <a:r>
                        <a:rPr lang="en-US" sz="700" b="1" u="none" strike="noStrike" dirty="0">
                          <a:solidFill>
                            <a:schemeClr val="bg2"/>
                          </a:solidFill>
                          <a:effectLst/>
                        </a:rPr>
                        <a:t>12.01.2026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Mon</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Evoke: National Youth Summit</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582829447"/>
                  </a:ext>
                </a:extLst>
              </a:tr>
              <a:tr h="152592">
                <a:tc>
                  <a:txBody>
                    <a:bodyPr/>
                    <a:lstStyle/>
                    <a:p>
                      <a:pPr algn="l" fontAlgn="ctr"/>
                      <a:r>
                        <a:rPr lang="en-US" sz="700" b="1" u="none" strike="noStrike">
                          <a:solidFill>
                            <a:schemeClr val="bg2"/>
                          </a:solidFill>
                          <a:effectLst/>
                        </a:rPr>
                        <a:t>27.01.2026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Tue</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The Artist Achievers Awards</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808319495"/>
                  </a:ext>
                </a:extLst>
              </a:tr>
              <a:tr h="152592">
                <a:tc>
                  <a:txBody>
                    <a:bodyPr/>
                    <a:lstStyle/>
                    <a:p>
                      <a:pPr algn="l" fontAlgn="ctr"/>
                      <a:r>
                        <a:rPr lang="en-US" sz="700" b="1" u="none" strike="noStrike">
                          <a:solidFill>
                            <a:schemeClr val="bg2"/>
                          </a:solidFill>
                          <a:effectLst/>
                        </a:rPr>
                        <a:t>09.02.2026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Mon</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MST 01 [1st Hourly Test] [09.02 to 12.02]</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16632979"/>
                  </a:ext>
                </a:extLst>
              </a:tr>
              <a:tr h="152592">
                <a:tc>
                  <a:txBody>
                    <a:bodyPr/>
                    <a:lstStyle/>
                    <a:p>
                      <a:pPr algn="l" fontAlgn="ctr"/>
                      <a:r>
                        <a:rPr lang="en-US" sz="700" b="1" u="none" strike="noStrike">
                          <a:solidFill>
                            <a:schemeClr val="bg2"/>
                          </a:solidFill>
                          <a:effectLst/>
                        </a:rPr>
                        <a:t>13.02.2026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Fri</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Annual Athletic Meet [13.02 to 14.02]</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165761405"/>
                  </a:ext>
                </a:extLst>
              </a:tr>
              <a:tr h="152592">
                <a:tc>
                  <a:txBody>
                    <a:bodyPr/>
                    <a:lstStyle/>
                    <a:p>
                      <a:pPr algn="l" fontAlgn="ctr"/>
                      <a:r>
                        <a:rPr lang="en-US" sz="700" b="1" u="none" strike="noStrike">
                          <a:solidFill>
                            <a:schemeClr val="bg2"/>
                          </a:solidFill>
                          <a:effectLst/>
                        </a:rPr>
                        <a:t>06.03.2026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Project Expo 2026 [06.03 to 07.03]</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716372203"/>
                  </a:ext>
                </a:extLst>
              </a:tr>
              <a:tr h="152592">
                <a:tc>
                  <a:txBody>
                    <a:bodyPr/>
                    <a:lstStyle/>
                    <a:p>
                      <a:pPr algn="l" fontAlgn="ctr"/>
                      <a:r>
                        <a:rPr lang="en-US" sz="700" b="1" u="none" strike="noStrike">
                          <a:solidFill>
                            <a:schemeClr val="bg2"/>
                          </a:solidFill>
                          <a:effectLst/>
                        </a:rPr>
                        <a:t>09.03.2026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Mon</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Practical MST [09.03 to 14.03]</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409619851"/>
                  </a:ext>
                </a:extLst>
              </a:tr>
              <a:tr h="152592">
                <a:tc>
                  <a:txBody>
                    <a:bodyPr/>
                    <a:lstStyle/>
                    <a:p>
                      <a:pPr algn="l" fontAlgn="ctr"/>
                      <a:r>
                        <a:rPr lang="en-US" sz="700" b="1" u="none" strike="noStrike">
                          <a:solidFill>
                            <a:schemeClr val="bg2"/>
                          </a:solidFill>
                          <a:effectLst/>
                        </a:rPr>
                        <a:t>13.03.2026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Babasaheb Bhimrao Ambedkar National Youth Parliament</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3002823"/>
                  </a:ext>
                </a:extLst>
              </a:tr>
              <a:tr h="152592">
                <a:tc>
                  <a:txBody>
                    <a:bodyPr/>
                    <a:lstStyle/>
                    <a:p>
                      <a:pPr algn="l" fontAlgn="ctr"/>
                      <a:r>
                        <a:rPr lang="en-US" sz="700" b="1" u="none" strike="noStrike">
                          <a:solidFill>
                            <a:schemeClr val="bg2"/>
                          </a:solidFill>
                          <a:effectLst/>
                        </a:rPr>
                        <a:t>17.03.2026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Tue</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MST 02 [17.03 to 20.03]</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49145998"/>
                  </a:ext>
                </a:extLst>
              </a:tr>
              <a:tr h="152592">
                <a:tc>
                  <a:txBody>
                    <a:bodyPr/>
                    <a:lstStyle/>
                    <a:p>
                      <a:pPr algn="l" fontAlgn="ctr"/>
                      <a:r>
                        <a:rPr lang="en-US" sz="700" b="1" u="none" strike="noStrike">
                          <a:solidFill>
                            <a:schemeClr val="bg2"/>
                          </a:solidFill>
                          <a:effectLst/>
                        </a:rPr>
                        <a:t>25.03.2026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Wed</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CU Theatre Festival [25.03 to 27.03]</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628797297"/>
                  </a:ext>
                </a:extLst>
              </a:tr>
              <a:tr h="152592">
                <a:tc>
                  <a:txBody>
                    <a:bodyPr/>
                    <a:lstStyle/>
                    <a:p>
                      <a:pPr algn="l" fontAlgn="ctr"/>
                      <a:r>
                        <a:rPr lang="en-US" sz="700" b="1" u="none" strike="noStrike">
                          <a:solidFill>
                            <a:schemeClr val="bg2"/>
                          </a:solidFill>
                          <a:effectLst/>
                        </a:rPr>
                        <a:t>27.03.2026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CU Fest - National Cultural Festival [27.03 to 28.03]</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86030197"/>
                  </a:ext>
                </a:extLst>
              </a:tr>
              <a:tr h="152592">
                <a:tc>
                  <a:txBody>
                    <a:bodyPr/>
                    <a:lstStyle/>
                    <a:p>
                      <a:pPr algn="l" fontAlgn="ctr"/>
                      <a:r>
                        <a:rPr lang="en-US" sz="700" b="1" u="none" strike="noStrike">
                          <a:solidFill>
                            <a:schemeClr val="bg2"/>
                          </a:solidFill>
                          <a:effectLst/>
                        </a:rPr>
                        <a:t>10.04.2026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CU Heritage Festival</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Co-Curr.</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818289283"/>
                  </a:ext>
                </a:extLst>
              </a:tr>
              <a:tr h="152592">
                <a:tc>
                  <a:txBody>
                    <a:bodyPr/>
                    <a:lstStyle/>
                    <a:p>
                      <a:pPr algn="l" fontAlgn="ctr"/>
                      <a:r>
                        <a:rPr lang="en-US" sz="700" b="1" u="none" strike="noStrike">
                          <a:solidFill>
                            <a:schemeClr val="bg2"/>
                          </a:solidFill>
                          <a:effectLst/>
                        </a:rPr>
                        <a:t>24.04.2026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Last Teaching Day (Except UID)</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069866644"/>
                  </a:ext>
                </a:extLst>
              </a:tr>
              <a:tr h="152592">
                <a:tc>
                  <a:txBody>
                    <a:bodyPr/>
                    <a:lstStyle/>
                    <a:p>
                      <a:pPr algn="l" fontAlgn="ctr"/>
                      <a:r>
                        <a:rPr lang="en-US" sz="700" b="1" u="none" strike="noStrike">
                          <a:solidFill>
                            <a:schemeClr val="bg2"/>
                          </a:solidFill>
                          <a:effectLst/>
                        </a:rPr>
                        <a:t>25.04.2026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Sat</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End Sem Practical Exams + Project Evaluation [25.04 to 30.04]</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440279506"/>
                  </a:ext>
                </a:extLst>
              </a:tr>
              <a:tr h="152592">
                <a:tc>
                  <a:txBody>
                    <a:bodyPr/>
                    <a:lstStyle/>
                    <a:p>
                      <a:pPr algn="l" fontAlgn="ctr"/>
                      <a:r>
                        <a:rPr lang="en-US" sz="700" b="1" u="none" strike="noStrike">
                          <a:solidFill>
                            <a:schemeClr val="bg2"/>
                          </a:solidFill>
                          <a:effectLst/>
                        </a:rPr>
                        <a:t>01.05.2026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Last Teaching Day (UID)</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668714836"/>
                  </a:ext>
                </a:extLst>
              </a:tr>
              <a:tr h="152592">
                <a:tc>
                  <a:txBody>
                    <a:bodyPr/>
                    <a:lstStyle/>
                    <a:p>
                      <a:pPr algn="l" fontAlgn="ctr"/>
                      <a:r>
                        <a:rPr lang="en-US" sz="700" b="1" u="none" strike="noStrike">
                          <a:solidFill>
                            <a:schemeClr val="bg2"/>
                          </a:solidFill>
                          <a:effectLst/>
                        </a:rPr>
                        <a:t>01.05.2026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End Sem Theory Exams (Except UID) [01.05 to 23.05]</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864765230"/>
                  </a:ext>
                </a:extLst>
              </a:tr>
              <a:tr h="152592">
                <a:tc>
                  <a:txBody>
                    <a:bodyPr/>
                    <a:lstStyle/>
                    <a:p>
                      <a:pPr algn="l" fontAlgn="ctr"/>
                      <a:r>
                        <a:rPr lang="en-US" sz="700" b="1" u="none" strike="noStrike">
                          <a:solidFill>
                            <a:schemeClr val="bg2"/>
                          </a:solidFill>
                          <a:effectLst/>
                        </a:rPr>
                        <a:t>04.05.2026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End Sem Practical Exams (UID) [04.05 to 09.05]</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3162877868"/>
                  </a:ext>
                </a:extLst>
              </a:tr>
              <a:tr h="152592">
                <a:tc>
                  <a:txBody>
                    <a:bodyPr/>
                    <a:lstStyle/>
                    <a:p>
                      <a:pPr algn="l" fontAlgn="ctr"/>
                      <a:r>
                        <a:rPr lang="en-US" sz="700" b="1" u="none" strike="noStrike">
                          <a:solidFill>
                            <a:schemeClr val="bg2"/>
                          </a:solidFill>
                          <a:effectLst/>
                        </a:rPr>
                        <a:t>11.05.2026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End Sem Theory Exams (UID) [11.05 to 23.05]</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053915366"/>
                  </a:ext>
                </a:extLst>
              </a:tr>
              <a:tr h="152592">
                <a:tc>
                  <a:txBody>
                    <a:bodyPr/>
                    <a:lstStyle/>
                    <a:p>
                      <a:pPr algn="l" fontAlgn="ctr"/>
                      <a:r>
                        <a:rPr lang="en-US" sz="700" b="1" u="none" strike="noStrike">
                          <a:solidFill>
                            <a:schemeClr val="bg2"/>
                          </a:solidFill>
                          <a:effectLst/>
                        </a:rPr>
                        <a:t>23.05.2026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Sat</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End of Even Semester</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414009617"/>
                  </a:ext>
                </a:extLst>
              </a:tr>
              <a:tr h="152592">
                <a:tc>
                  <a:txBody>
                    <a:bodyPr/>
                    <a:lstStyle/>
                    <a:p>
                      <a:pPr algn="l" fontAlgn="ctr"/>
                      <a:r>
                        <a:rPr lang="en-US" sz="700" b="1" u="none" strike="noStrike">
                          <a:solidFill>
                            <a:schemeClr val="bg2"/>
                          </a:solidFill>
                          <a:effectLst/>
                        </a:rPr>
                        <a:t>25.05.2026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FDP/Conference/Workshop [25.05 to 29.05]</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Faculty Dev.</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2369022631"/>
                  </a:ext>
                </a:extLst>
              </a:tr>
              <a:tr h="152592">
                <a:tc>
                  <a:txBody>
                    <a:bodyPr/>
                    <a:lstStyle/>
                    <a:p>
                      <a:pPr algn="l" fontAlgn="ctr"/>
                      <a:r>
                        <a:rPr lang="en-US" sz="700" b="1" u="none" strike="noStrike">
                          <a:solidFill>
                            <a:schemeClr val="bg2"/>
                          </a:solidFill>
                          <a:effectLst/>
                        </a:rPr>
                        <a:t>01.06.2026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Summer Term/Internships/Boot Camp [01.06 to 30.06]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Academics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419202999"/>
                  </a:ext>
                </a:extLst>
              </a:tr>
              <a:tr h="152592">
                <a:tc>
                  <a:txBody>
                    <a:bodyPr/>
                    <a:lstStyle/>
                    <a:p>
                      <a:pPr algn="l" fontAlgn="ctr"/>
                      <a:r>
                        <a:rPr lang="en-US" sz="700" b="1" u="none" strike="noStrike">
                          <a:solidFill>
                            <a:schemeClr val="bg2"/>
                          </a:solidFill>
                          <a:effectLst/>
                        </a:rPr>
                        <a:t>01.06.2026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Summer Break for Faculty [01.06 to 30.06]</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Faculty</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60361846"/>
                  </a:ext>
                </a:extLst>
              </a:tr>
              <a:tr h="152592">
                <a:tc>
                  <a:txBody>
                    <a:bodyPr/>
                    <a:lstStyle/>
                    <a:p>
                      <a:pPr algn="l" fontAlgn="ctr"/>
                      <a:r>
                        <a:rPr lang="en-US" sz="700" b="1" u="none" strike="noStrike">
                          <a:solidFill>
                            <a:schemeClr val="bg2"/>
                          </a:solidFill>
                          <a:effectLst/>
                        </a:rPr>
                        <a:t>12.06.2026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Fri</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Announcement of Results</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Exams</a:t>
                      </a:r>
                      <a:endParaRPr lang="en-US" sz="700" b="1" i="0" u="none" strike="noStrike">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89565248"/>
                  </a:ext>
                </a:extLst>
              </a:tr>
              <a:tr h="152592">
                <a:tc>
                  <a:txBody>
                    <a:bodyPr/>
                    <a:lstStyle/>
                    <a:p>
                      <a:pPr algn="l" fontAlgn="ctr"/>
                      <a:r>
                        <a:rPr lang="en-US" sz="700" b="1" u="none" strike="noStrike">
                          <a:solidFill>
                            <a:schemeClr val="bg2"/>
                          </a:solidFill>
                          <a:effectLst/>
                        </a:rPr>
                        <a:t>29.06.2026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Mon</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Graduation Ceremony for International Students</a:t>
                      </a:r>
                      <a:endParaRPr lang="en-US" sz="700" b="1" i="0" u="none" strike="noStrike" dirty="0">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Academics</a:t>
                      </a:r>
                      <a:endParaRPr lang="en-US" sz="700" b="1" i="0" u="none" strike="noStrike" dirty="0">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888086970"/>
                  </a:ext>
                </a:extLst>
              </a:tr>
              <a:tr h="152592">
                <a:tc>
                  <a:txBody>
                    <a:bodyPr/>
                    <a:lstStyle/>
                    <a:p>
                      <a:pPr algn="l" fontAlgn="ctr"/>
                      <a:r>
                        <a:rPr lang="en-US" sz="700" b="1" u="none" strike="noStrike">
                          <a:solidFill>
                            <a:schemeClr val="bg2"/>
                          </a:solidFill>
                          <a:effectLst/>
                        </a:rPr>
                        <a:t>01.07.2026</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Wed</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a:solidFill>
                            <a:schemeClr val="bg2"/>
                          </a:solidFill>
                          <a:effectLst/>
                        </a:rPr>
                        <a:t>Summer Term + Special Reappear Exams [01.07 to 07.07]</a:t>
                      </a:r>
                      <a:endParaRPr lang="en-US" sz="700" b="1" i="0" u="none" strike="noStrike">
                        <a:solidFill>
                          <a:schemeClr val="bg2"/>
                        </a:solidFill>
                        <a:effectLst/>
                        <a:latin typeface="Cambria" panose="02040503050406030204" pitchFamily="18" charset="0"/>
                      </a:endParaRPr>
                    </a:p>
                  </a:txBody>
                  <a:tcPr marL="4880" marR="4880" marT="4880" marB="0" anchor="ctr"/>
                </a:tc>
                <a:tc>
                  <a:txBody>
                    <a:bodyPr/>
                    <a:lstStyle/>
                    <a:p>
                      <a:pPr algn="l" fontAlgn="ctr"/>
                      <a:r>
                        <a:rPr lang="en-US" sz="700" b="1" u="none" strike="noStrike" dirty="0">
                          <a:solidFill>
                            <a:schemeClr val="bg2"/>
                          </a:solidFill>
                          <a:effectLst/>
                        </a:rPr>
                        <a:t>Exams</a:t>
                      </a:r>
                      <a:endParaRPr lang="en-US" sz="700" b="1" i="0" u="none" strike="noStrike" dirty="0">
                        <a:solidFill>
                          <a:schemeClr val="bg2"/>
                        </a:solidFill>
                        <a:effectLst/>
                        <a:latin typeface="Cambria" panose="02040503050406030204" pitchFamily="18" charset="0"/>
                      </a:endParaRPr>
                    </a:p>
                  </a:txBody>
                  <a:tcPr marL="4880" marR="4880" marT="4880" marB="0" anchor="ctr"/>
                </a:tc>
                <a:extLst>
                  <a:ext uri="{0D108BD9-81ED-4DB2-BD59-A6C34878D82A}">
                    <a16:rowId xmlns:a16="http://schemas.microsoft.com/office/drawing/2014/main" xmlns="" val="105249322"/>
                  </a:ext>
                </a:extLst>
              </a:tr>
            </a:tbl>
          </a:graphicData>
        </a:graphic>
      </p:graphicFrame>
    </p:spTree>
    <p:extLst>
      <p:ext uri="{BB962C8B-B14F-4D97-AF65-F5344CB8AC3E}">
        <p14:creationId xmlns:p14="http://schemas.microsoft.com/office/powerpoint/2010/main" val="3852726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88EA8104-ACC5-B6EB-9A28-657E7269BA5A}"/>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FCC6AB15-6313-FEFB-120D-167FF95D6340}"/>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A6C480E3-F309-5E78-296D-4CC5B0D4A87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18F25F29-E1FF-F96D-1507-363436E2E8D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Information</a:t>
              </a:r>
            </a:p>
          </p:txBody>
        </p:sp>
      </p:grpSp>
      <p:sp>
        <p:nvSpPr>
          <p:cNvPr id="111" name="Google Shape;111;p2">
            <a:extLst>
              <a:ext uri="{FF2B5EF4-FFF2-40B4-BE49-F238E27FC236}">
                <a16:creationId xmlns:a16="http://schemas.microsoft.com/office/drawing/2014/main" xmlns="" id="{B0ED0376-5835-7F88-2516-DE9EC5C698B7}"/>
              </a:ext>
            </a:extLst>
          </p:cNvPr>
          <p:cNvSpPr txBox="1">
            <a:spLocks noGrp="1"/>
          </p:cNvSpPr>
          <p:nvPr>
            <p:ph type="body" idx="1"/>
          </p:nvPr>
        </p:nvSpPr>
        <p:spPr>
          <a:xfrm>
            <a:off x="333461" y="143523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15</a:t>
            </a:r>
          </a:p>
        </p:txBody>
      </p:sp>
      <p:graphicFrame>
        <p:nvGraphicFramePr>
          <p:cNvPr id="10" name="Table 9"/>
          <p:cNvGraphicFramePr>
            <a:graphicFrameLocks noGrp="1"/>
          </p:cNvGraphicFramePr>
          <p:nvPr>
            <p:extLst>
              <p:ext uri="{D42A27DB-BD31-4B8C-83A1-F6EECF244321}">
                <p14:modId xmlns:p14="http://schemas.microsoft.com/office/powerpoint/2010/main" val="167905987"/>
              </p:ext>
            </p:extLst>
          </p:nvPr>
        </p:nvGraphicFramePr>
        <p:xfrm>
          <a:off x="958543" y="796147"/>
          <a:ext cx="7655866" cy="1255714"/>
        </p:xfrm>
        <a:graphic>
          <a:graphicData uri="http://schemas.openxmlformats.org/drawingml/2006/table">
            <a:tbl>
              <a:tblPr bandRow="1">
                <a:tableStyleId>{284E427A-3D55-4303-BF80-6455036E1DE7}</a:tableStyleId>
              </a:tblPr>
              <a:tblGrid>
                <a:gridCol w="469900"/>
                <a:gridCol w="863881"/>
                <a:gridCol w="2780247"/>
                <a:gridCol w="241344"/>
                <a:gridCol w="241344"/>
                <a:gridCol w="235750"/>
                <a:gridCol w="226160"/>
                <a:gridCol w="249335"/>
                <a:gridCol w="358819"/>
                <a:gridCol w="791958"/>
                <a:gridCol w="1197128"/>
              </a:tblGrid>
              <a:tr h="120015">
                <a:tc>
                  <a:txBody>
                    <a:bodyPr/>
                    <a:lstStyle/>
                    <a:p>
                      <a:pPr algn="l">
                        <a:lnSpc>
                          <a:spcPct val="107000"/>
                        </a:lnSpc>
                        <a:spcAft>
                          <a:spcPts val="800"/>
                        </a:spcAft>
                      </a:pPr>
                      <a:r>
                        <a:rPr lang="en-IN" sz="1100" b="1" dirty="0">
                          <a:solidFill>
                            <a:schemeClr val="bg2"/>
                          </a:solidFill>
                          <a:effectLst/>
                        </a:rPr>
                        <a:t>SN</a:t>
                      </a:r>
                      <a:endParaRPr lang="en-US" sz="1800" b="1" dirty="0">
                        <a:solidFill>
                          <a:schemeClr val="bg2"/>
                        </a:solidFill>
                        <a:effectLst/>
                        <a:latin typeface="Calibri"/>
                        <a:ea typeface="Calibri"/>
                        <a:cs typeface="Times New Roman"/>
                      </a:endParaRPr>
                    </a:p>
                  </a:txBody>
                  <a:tcPr marL="73025" marR="73025" marT="0" marB="0"/>
                </a:tc>
                <a:tc rowSpan="2">
                  <a:txBody>
                    <a:bodyPr/>
                    <a:lstStyle/>
                    <a:p>
                      <a:pPr algn="l">
                        <a:lnSpc>
                          <a:spcPct val="107000"/>
                        </a:lnSpc>
                        <a:spcAft>
                          <a:spcPts val="800"/>
                        </a:spcAft>
                      </a:pPr>
                      <a:r>
                        <a:rPr lang="en-IN" sz="1100" b="1" dirty="0">
                          <a:solidFill>
                            <a:schemeClr val="bg2"/>
                          </a:solidFill>
                          <a:effectLst/>
                        </a:rPr>
                        <a:t>24CST-281</a:t>
                      </a:r>
                      <a:endParaRPr lang="en-US" sz="1800" b="1" dirty="0">
                        <a:solidFill>
                          <a:schemeClr val="bg2"/>
                        </a:solidFill>
                        <a:effectLst/>
                      </a:endParaRPr>
                    </a:p>
                    <a:p>
                      <a:pPr algn="l">
                        <a:lnSpc>
                          <a:spcPct val="107000"/>
                        </a:lnSpc>
                        <a:spcAft>
                          <a:spcPts val="800"/>
                        </a:spcAft>
                      </a:pPr>
                      <a:r>
                        <a:rPr lang="en-IN" sz="1100" b="1" dirty="0">
                          <a:solidFill>
                            <a:schemeClr val="bg2"/>
                          </a:solidFill>
                          <a:effectLst/>
                        </a:rPr>
                        <a:t> </a:t>
                      </a:r>
                      <a:endParaRPr lang="en-US" sz="1800" b="1" dirty="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Course Name: Introduction to Data Science</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L</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T</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P</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S</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C</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CH</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a:solidFill>
                            <a:schemeClr val="bg2"/>
                          </a:solidFill>
                          <a:effectLst/>
                        </a:rPr>
                        <a:t>Course Category</a:t>
                      </a:r>
                      <a:endParaRPr lang="en-US" sz="1800" b="1">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b="1" dirty="0">
                          <a:solidFill>
                            <a:schemeClr val="bg2"/>
                          </a:solidFill>
                          <a:effectLst/>
                        </a:rPr>
                        <a:t>Course Type</a:t>
                      </a:r>
                      <a:endParaRPr lang="en-US" sz="1800" b="1" dirty="0">
                        <a:solidFill>
                          <a:schemeClr val="bg2"/>
                        </a:solidFill>
                        <a:effectLst/>
                        <a:latin typeface="Calibri"/>
                        <a:ea typeface="Calibri"/>
                        <a:cs typeface="Times New Roman"/>
                      </a:endParaRPr>
                    </a:p>
                  </a:txBody>
                  <a:tcPr marL="68580" marR="68580" marT="0" marB="0"/>
                </a:tc>
              </a:tr>
              <a:tr h="90805">
                <a:tc>
                  <a:txBody>
                    <a:bodyPr/>
                    <a:lstStyle/>
                    <a:p>
                      <a:pPr algn="l">
                        <a:lnSpc>
                          <a:spcPct val="107000"/>
                        </a:lnSpc>
                        <a:spcAft>
                          <a:spcPts val="800"/>
                        </a:spcAft>
                      </a:pPr>
                      <a:r>
                        <a:rPr lang="en-IN" sz="1100">
                          <a:solidFill>
                            <a:schemeClr val="bg2"/>
                          </a:solidFill>
                          <a:effectLst/>
                        </a:rPr>
                        <a:t>4</a:t>
                      </a:r>
                      <a:endParaRPr lang="en-US" sz="1800">
                        <a:solidFill>
                          <a:schemeClr val="bg2"/>
                        </a:solidFill>
                        <a:effectLst/>
                        <a:latin typeface="Calibri"/>
                        <a:ea typeface="Calibri"/>
                        <a:cs typeface="Times New Roman"/>
                      </a:endParaRPr>
                    </a:p>
                  </a:txBody>
                  <a:tcPr marL="73025" marR="73025" marT="0" marB="0"/>
                </a:tc>
                <a:tc vMerge="1">
                  <a:txBody>
                    <a:bodyPr/>
                    <a:lstStyle/>
                    <a:p>
                      <a:endParaRPr lang="en-US"/>
                    </a:p>
                  </a:txBody>
                  <a:tcPr/>
                </a:tc>
                <a:tc>
                  <a:txBody>
                    <a:bodyPr/>
                    <a:lstStyle/>
                    <a:p>
                      <a:pPr algn="l">
                        <a:lnSpc>
                          <a:spcPct val="107000"/>
                        </a:lnSpc>
                        <a:spcAft>
                          <a:spcPts val="800"/>
                        </a:spcAft>
                      </a:pPr>
                      <a:r>
                        <a:rPr lang="en-IN" sz="1100" dirty="0">
                          <a:solidFill>
                            <a:schemeClr val="bg2"/>
                          </a:solidFill>
                          <a:effectLst/>
                        </a:rPr>
                        <a:t>Course Coordinator: </a:t>
                      </a:r>
                      <a:r>
                        <a:rPr lang="en-IN" sz="1100" dirty="0" err="1">
                          <a:solidFill>
                            <a:schemeClr val="bg2"/>
                          </a:solidFill>
                          <a:effectLst/>
                        </a:rPr>
                        <a:t>Dr.</a:t>
                      </a:r>
                      <a:r>
                        <a:rPr lang="en-IN" sz="1100" dirty="0">
                          <a:solidFill>
                            <a:schemeClr val="bg2"/>
                          </a:solidFill>
                          <a:effectLst/>
                        </a:rPr>
                        <a:t> </a:t>
                      </a:r>
                      <a:r>
                        <a:rPr lang="en-IN" sz="1100" dirty="0" err="1" smtClean="0">
                          <a:solidFill>
                            <a:schemeClr val="bg2"/>
                          </a:solidFill>
                          <a:effectLst/>
                        </a:rPr>
                        <a:t>Ankit</a:t>
                      </a:r>
                      <a:r>
                        <a:rPr lang="en-IN" sz="1100" baseline="0" dirty="0" smtClean="0">
                          <a:solidFill>
                            <a:schemeClr val="bg2"/>
                          </a:solidFill>
                          <a:effectLst/>
                        </a:rPr>
                        <a:t> Kumar </a:t>
                      </a:r>
                      <a:r>
                        <a:rPr lang="en-IN" sz="1100" baseline="0" dirty="0" err="1" smtClean="0">
                          <a:solidFill>
                            <a:schemeClr val="bg2"/>
                          </a:solidFill>
                          <a:effectLst/>
                        </a:rPr>
                        <a:t>Dubey</a:t>
                      </a:r>
                      <a:endParaRPr lang="en-US" sz="1800" dirty="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3</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0</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0</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0</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3</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3</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PE-H</a:t>
                      </a:r>
                      <a:endParaRPr lang="en-US" sz="1800">
                        <a:solidFill>
                          <a:schemeClr val="bg2"/>
                        </a:solidFill>
                        <a:effectLst/>
                        <a:latin typeface="Calibri"/>
                        <a:ea typeface="Calibri"/>
                        <a:cs typeface="Times New Roman"/>
                      </a:endParaRPr>
                    </a:p>
                  </a:txBody>
                  <a:tcPr marL="73025" marR="73025" marT="0" marB="0"/>
                </a:tc>
                <a:tc>
                  <a:txBody>
                    <a:bodyPr/>
                    <a:lstStyle/>
                    <a:p>
                      <a:pPr algn="l">
                        <a:lnSpc>
                          <a:spcPct val="107000"/>
                        </a:lnSpc>
                        <a:spcAft>
                          <a:spcPts val="800"/>
                        </a:spcAft>
                      </a:pPr>
                      <a:r>
                        <a:rPr lang="en-IN" sz="1100">
                          <a:solidFill>
                            <a:schemeClr val="bg2"/>
                          </a:solidFill>
                          <a:effectLst/>
                        </a:rPr>
                        <a:t>Theory</a:t>
                      </a:r>
                      <a:endParaRPr lang="en-US" sz="1800">
                        <a:solidFill>
                          <a:schemeClr val="bg2"/>
                        </a:solidFill>
                        <a:effectLst/>
                        <a:latin typeface="Calibri"/>
                        <a:ea typeface="Calibri"/>
                        <a:cs typeface="Times New Roman"/>
                      </a:endParaRPr>
                    </a:p>
                  </a:txBody>
                  <a:tcPr marL="68580" marR="68580" marT="0" marB="0"/>
                </a:tc>
              </a:tr>
              <a:tr h="134620">
                <a:tc gridSpan="2">
                  <a:txBody>
                    <a:bodyPr/>
                    <a:lstStyle/>
                    <a:p>
                      <a:pPr algn="l">
                        <a:lnSpc>
                          <a:spcPct val="107000"/>
                        </a:lnSpc>
                        <a:spcAft>
                          <a:spcPts val="800"/>
                        </a:spcAft>
                      </a:pPr>
                      <a:r>
                        <a:rPr lang="en-IN" sz="1100">
                          <a:solidFill>
                            <a:schemeClr val="bg2"/>
                          </a:solidFill>
                          <a:effectLst/>
                        </a:rPr>
                        <a:t>PRE-REQUISITE</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gridSpan="4">
                  <a:txBody>
                    <a:bodyPr/>
                    <a:lstStyle/>
                    <a:p>
                      <a:pPr algn="l">
                        <a:lnSpc>
                          <a:spcPct val="107000"/>
                        </a:lnSpc>
                        <a:spcAft>
                          <a:spcPts val="800"/>
                        </a:spcAft>
                      </a:pPr>
                      <a:r>
                        <a:rPr lang="en-IN" sz="1100">
                          <a:solidFill>
                            <a:schemeClr val="bg2"/>
                          </a:solidFill>
                          <a:effectLst/>
                        </a:rPr>
                        <a:t>Probability and Statistic</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a:lnSpc>
                          <a:spcPct val="107000"/>
                        </a:lnSpc>
                        <a:spcAft>
                          <a:spcPts val="800"/>
                        </a:spcAft>
                      </a:pPr>
                      <a:r>
                        <a:rPr lang="en-IN" sz="1100">
                          <a:solidFill>
                            <a:schemeClr val="bg2"/>
                          </a:solidFill>
                          <a:effectLst/>
                        </a:rPr>
                        <a:t> </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95885">
                <a:tc gridSpan="2">
                  <a:txBody>
                    <a:bodyPr/>
                    <a:lstStyle/>
                    <a:p>
                      <a:pPr algn="l">
                        <a:lnSpc>
                          <a:spcPct val="107000"/>
                        </a:lnSpc>
                        <a:spcAft>
                          <a:spcPts val="800"/>
                        </a:spcAft>
                      </a:pPr>
                      <a:r>
                        <a:rPr lang="en-IN" sz="1100">
                          <a:solidFill>
                            <a:schemeClr val="bg2"/>
                          </a:solidFill>
                          <a:effectLst/>
                        </a:rPr>
                        <a:t>CO-REQUISITE</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gridSpan="4">
                  <a:txBody>
                    <a:bodyPr/>
                    <a:lstStyle/>
                    <a:p>
                      <a:pPr algn="l">
                        <a:lnSpc>
                          <a:spcPct val="107000"/>
                        </a:lnSpc>
                        <a:spcAft>
                          <a:spcPts val="800"/>
                        </a:spcAft>
                      </a:pPr>
                      <a:r>
                        <a:rPr lang="en-IN" sz="1100">
                          <a:solidFill>
                            <a:schemeClr val="bg2"/>
                          </a:solidFill>
                          <a:effectLst/>
                        </a:rPr>
                        <a:t>Nil</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a:lnSpc>
                          <a:spcPct val="107000"/>
                        </a:lnSpc>
                        <a:spcAft>
                          <a:spcPts val="800"/>
                        </a:spcAft>
                      </a:pPr>
                      <a:r>
                        <a:rPr lang="en-IN" sz="1100">
                          <a:solidFill>
                            <a:schemeClr val="bg2"/>
                          </a:solidFill>
                          <a:effectLst/>
                        </a:rPr>
                        <a:t> </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14935">
                <a:tc gridSpan="2">
                  <a:txBody>
                    <a:bodyPr/>
                    <a:lstStyle/>
                    <a:p>
                      <a:pPr algn="l">
                        <a:lnSpc>
                          <a:spcPct val="107000"/>
                        </a:lnSpc>
                        <a:spcAft>
                          <a:spcPts val="800"/>
                        </a:spcAft>
                      </a:pPr>
                      <a:r>
                        <a:rPr lang="en-IN" sz="1100">
                          <a:solidFill>
                            <a:schemeClr val="bg2"/>
                          </a:solidFill>
                          <a:effectLst/>
                        </a:rPr>
                        <a:t>ANTI-REQUISITE</a:t>
                      </a:r>
                      <a:endParaRPr lang="en-US" sz="1800">
                        <a:solidFill>
                          <a:schemeClr val="bg2"/>
                        </a:solidFill>
                        <a:effectLst/>
                        <a:latin typeface="Calibri"/>
                        <a:ea typeface="Calibri"/>
                        <a:cs typeface="Times New Roman"/>
                      </a:endParaRPr>
                    </a:p>
                  </a:txBody>
                  <a:tcPr marL="73025" marR="73025" marT="0" marB="0"/>
                </a:tc>
                <a:tc hMerge="1">
                  <a:txBody>
                    <a:bodyPr/>
                    <a:lstStyle/>
                    <a:p>
                      <a:endParaRPr lang="en-US"/>
                    </a:p>
                  </a:txBody>
                  <a:tcPr/>
                </a:tc>
                <a:tc gridSpan="4">
                  <a:txBody>
                    <a:bodyPr/>
                    <a:lstStyle/>
                    <a:p>
                      <a:pPr algn="l">
                        <a:lnSpc>
                          <a:spcPct val="107000"/>
                        </a:lnSpc>
                        <a:spcAft>
                          <a:spcPts val="800"/>
                        </a:spcAft>
                      </a:pPr>
                      <a:r>
                        <a:rPr lang="en-IN" sz="1100" dirty="0">
                          <a:solidFill>
                            <a:schemeClr val="bg2"/>
                          </a:solidFill>
                          <a:effectLst/>
                        </a:rPr>
                        <a:t>Nil</a:t>
                      </a:r>
                      <a:endParaRPr lang="en-US" sz="1800" dirty="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a:lnSpc>
                          <a:spcPct val="107000"/>
                        </a:lnSpc>
                        <a:spcAft>
                          <a:spcPts val="800"/>
                        </a:spcAft>
                      </a:pPr>
                      <a:r>
                        <a:rPr lang="en-IN" sz="1100" dirty="0">
                          <a:solidFill>
                            <a:schemeClr val="bg2"/>
                          </a:solidFill>
                          <a:effectLst/>
                        </a:rPr>
                        <a:t> </a:t>
                      </a:r>
                      <a:endParaRPr lang="en-US" sz="1800" dirty="0">
                        <a:solidFill>
                          <a:schemeClr val="bg2"/>
                        </a:solidFill>
                        <a:effectLst/>
                        <a:latin typeface="Calibri"/>
                        <a:ea typeface="Calibri"/>
                        <a:cs typeface="Times New Roman"/>
                      </a:endParaRPr>
                    </a:p>
                  </a:txBody>
                  <a:tcPr marL="73025" marR="73025"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11" name="Rectangle 10"/>
          <p:cNvSpPr/>
          <p:nvPr/>
        </p:nvSpPr>
        <p:spPr>
          <a:xfrm>
            <a:off x="958541" y="2213478"/>
            <a:ext cx="7655867" cy="2862322"/>
          </a:xfrm>
          <a:prstGeom prst="rect">
            <a:avLst/>
          </a:prstGeom>
        </p:spPr>
        <p:txBody>
          <a:bodyPr wrap="square">
            <a:spAutoFit/>
          </a:bodyPr>
          <a:lstStyle/>
          <a:p>
            <a:pPr>
              <a:lnSpc>
                <a:spcPct val="150000"/>
              </a:lnSpc>
            </a:pPr>
            <a:r>
              <a:rPr lang="en-IN" sz="1200" b="1" dirty="0"/>
              <a:t>COURSE DESCRIPTION</a:t>
            </a:r>
            <a:endParaRPr lang="en-US" sz="1200" dirty="0"/>
          </a:p>
          <a:p>
            <a:pPr lvl="0" algn="just">
              <a:lnSpc>
                <a:spcPct val="150000"/>
              </a:lnSpc>
            </a:pPr>
            <a:r>
              <a:rPr lang="en-IN" sz="1200" dirty="0"/>
              <a:t>Data science is the study of data to extract meaningful insights for business. It is a multidisciplinary approach that combines principles and practices from the fields of mathematics, statistics, artificial intelligence, and computer engineering to </a:t>
            </a:r>
            <a:r>
              <a:rPr lang="en-IN" sz="1200" dirty="0" err="1"/>
              <a:t>analyze</a:t>
            </a:r>
            <a:r>
              <a:rPr lang="en-IN" sz="1200" dirty="0"/>
              <a:t> large amounts of data. This analysis helps data scientists to ask and answer questions like what happened, why it happened, what will happen, and what can be done with the results.</a:t>
            </a:r>
            <a:endParaRPr lang="en-US" sz="1200" dirty="0"/>
          </a:p>
          <a:p>
            <a:pPr>
              <a:lnSpc>
                <a:spcPct val="150000"/>
              </a:lnSpc>
            </a:pPr>
            <a:r>
              <a:rPr lang="en-IN" sz="1200" b="1" dirty="0"/>
              <a:t>COURSE OBJECTIVES:</a:t>
            </a:r>
            <a:endParaRPr lang="en-US" sz="1200" dirty="0"/>
          </a:p>
          <a:p>
            <a:pPr marL="171450" indent="-171450" algn="just">
              <a:lnSpc>
                <a:spcPct val="150000"/>
              </a:lnSpc>
              <a:buFont typeface="Arial" pitchFamily="34" charset="0"/>
              <a:buChar char="•"/>
            </a:pPr>
            <a:r>
              <a:rPr lang="en-IN" sz="1200" dirty="0"/>
              <a:t>To understand the overview and definition of Data Science with its crucial role in current business world.</a:t>
            </a:r>
            <a:endParaRPr lang="en-US" sz="1200" dirty="0"/>
          </a:p>
          <a:p>
            <a:pPr marL="171450" lvl="0" indent="-171450" algn="just">
              <a:lnSpc>
                <a:spcPct val="150000"/>
              </a:lnSpc>
              <a:buFont typeface="Arial" pitchFamily="34" charset="0"/>
              <a:buChar char="•"/>
            </a:pPr>
            <a:r>
              <a:rPr lang="en-IN" sz="1200" dirty="0"/>
              <a:t>To understand the importance of mathematics &amp; Statistics in Data Science.</a:t>
            </a:r>
            <a:endParaRPr lang="en-US" sz="1200" dirty="0"/>
          </a:p>
          <a:p>
            <a:pPr marL="171450" lvl="0" indent="-171450" algn="just">
              <a:lnSpc>
                <a:spcPct val="150000"/>
              </a:lnSpc>
              <a:buFont typeface="Arial" pitchFamily="34" charset="0"/>
              <a:buChar char="•"/>
            </a:pPr>
            <a:r>
              <a:rPr lang="en-IN" sz="1200" dirty="0"/>
              <a:t>To understand the role of machine learning techniques in Data Science and its different types.</a:t>
            </a:r>
            <a:endParaRPr lang="en-US" sz="1200" dirty="0"/>
          </a:p>
          <a:p>
            <a:pPr marL="171450" lvl="0" indent="-171450" algn="just">
              <a:lnSpc>
                <a:spcPct val="150000"/>
              </a:lnSpc>
              <a:buFont typeface="Arial" pitchFamily="34" charset="0"/>
              <a:buChar char="•"/>
            </a:pPr>
            <a:r>
              <a:rPr lang="en-IN" sz="1200" dirty="0"/>
              <a:t>To know the integrated role of computers and its components in Data Science</a:t>
            </a:r>
            <a:endParaRPr lang="en-US" sz="1200" dirty="0"/>
          </a:p>
        </p:txBody>
      </p:sp>
    </p:spTree>
    <p:extLst>
      <p:ext uri="{BB962C8B-B14F-4D97-AF65-F5344CB8AC3E}">
        <p14:creationId xmlns:p14="http://schemas.microsoft.com/office/powerpoint/2010/main" val="2626682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4BED8776-82A9-C3BD-5844-FF05405138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00E0E5BE-FA8F-5957-A3CD-8C1DD3BFF40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D89AB046-BF5D-9FB0-A377-F7F7D02D46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E02AF8FA-0EE9-C2FB-6C1E-80FEF5B5E3A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Outcomes</a:t>
              </a:r>
            </a:p>
          </p:txBody>
        </p:sp>
      </p:grpSp>
      <p:sp>
        <p:nvSpPr>
          <p:cNvPr id="111" name="Google Shape;111;p2">
            <a:extLst>
              <a:ext uri="{FF2B5EF4-FFF2-40B4-BE49-F238E27FC236}">
                <a16:creationId xmlns:a16="http://schemas.microsoft.com/office/drawing/2014/main" xmlns="" id="{6C9CDB22-B6A6-EEC4-E538-5F62E68049E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16</a:t>
            </a:r>
          </a:p>
        </p:txBody>
      </p:sp>
      <p:graphicFrame>
        <p:nvGraphicFramePr>
          <p:cNvPr id="3" name="Table 2"/>
          <p:cNvGraphicFramePr>
            <a:graphicFrameLocks noGrp="1"/>
          </p:cNvGraphicFramePr>
          <p:nvPr/>
        </p:nvGraphicFramePr>
        <p:xfrm>
          <a:off x="311150" y="1887286"/>
          <a:ext cx="8521700" cy="1946778"/>
        </p:xfrm>
        <a:graphic>
          <a:graphicData uri="http://schemas.openxmlformats.org/drawingml/2006/table">
            <a:tbl>
              <a:tblPr firstRow="1" firstCol="1" bandRow="1">
                <a:tableStyleId>{97377635-EB9D-4884-B79A-0D259F93817B}</a:tableStyleId>
              </a:tblPr>
              <a:tblGrid>
                <a:gridCol w="8521700"/>
              </a:tblGrid>
              <a:tr h="240014">
                <a:tc>
                  <a:txBody>
                    <a:bodyPr/>
                    <a:lstStyle/>
                    <a:p>
                      <a:pPr algn="l" fontAlgn="ctr">
                        <a:spcAft>
                          <a:spcPts val="0"/>
                        </a:spcAft>
                      </a:pPr>
                      <a:r>
                        <a:rPr lang="en-US" sz="1100">
                          <a:effectLst/>
                        </a:rPr>
                        <a:t>Course Outcomes (COs)</a:t>
                      </a:r>
                      <a:endParaRPr lang="en-US" sz="1000">
                        <a:effectLst/>
                        <a:latin typeface="Calibri"/>
                        <a:ea typeface="等线"/>
                        <a:cs typeface="Times New Roman"/>
                      </a:endParaRPr>
                    </a:p>
                  </a:txBody>
                  <a:tcPr marL="65458" marR="65458" marT="0" marB="0" anchor="ctr"/>
                </a:tc>
              </a:tr>
              <a:tr h="240014">
                <a:tc>
                  <a:txBody>
                    <a:bodyPr/>
                    <a:lstStyle/>
                    <a:p>
                      <a:pPr algn="l" fontAlgn="ctr">
                        <a:spcAft>
                          <a:spcPts val="0"/>
                        </a:spcAft>
                      </a:pPr>
                      <a:r>
                        <a:rPr lang="en-US" sz="1100">
                          <a:effectLst/>
                        </a:rPr>
                        <a:t>On completion of this course, the students shall be able to:-</a:t>
                      </a:r>
                      <a:endParaRPr lang="en-US" sz="1000">
                        <a:effectLst/>
                        <a:latin typeface="Calibri"/>
                        <a:ea typeface="等线"/>
                        <a:cs typeface="Times New Roman"/>
                      </a:endParaRPr>
                    </a:p>
                  </a:txBody>
                  <a:tcPr marL="65458" marR="65458" marT="0" marB="0" anchor="ctr"/>
                </a:tc>
              </a:tr>
              <a:tr h="293350">
                <a:tc>
                  <a:txBody>
                    <a:bodyPr/>
                    <a:lstStyle/>
                    <a:p>
                      <a:pPr algn="l" fontAlgn="ctr">
                        <a:spcAft>
                          <a:spcPts val="0"/>
                        </a:spcAft>
                      </a:pPr>
                      <a:r>
                        <a:rPr lang="en-US" sz="1100">
                          <a:effectLst/>
                        </a:rPr>
                        <a:t>CO1:</a:t>
                      </a:r>
                      <a:r>
                        <a:rPr lang="en-US" sz="1100" u="none" strike="noStrike">
                          <a:effectLst/>
                        </a:rPr>
                        <a:t> To understand the overview, definition, and role of Data Science in solving real-world problems.</a:t>
                      </a:r>
                      <a:endParaRPr lang="en-US" sz="1000">
                        <a:effectLst/>
                        <a:latin typeface="Calibri"/>
                        <a:ea typeface="等线"/>
                        <a:cs typeface="Times New Roman"/>
                      </a:endParaRPr>
                    </a:p>
                  </a:txBody>
                  <a:tcPr marL="65458" marR="65458" marT="0" marB="0" anchor="ctr"/>
                </a:tc>
              </a:tr>
              <a:tr h="293350">
                <a:tc>
                  <a:txBody>
                    <a:bodyPr/>
                    <a:lstStyle/>
                    <a:p>
                      <a:pPr algn="l" fontAlgn="ctr">
                        <a:spcAft>
                          <a:spcPts val="0"/>
                        </a:spcAft>
                      </a:pPr>
                      <a:r>
                        <a:rPr lang="en-US" sz="1100">
                          <a:effectLst/>
                        </a:rPr>
                        <a:t>CO2:</a:t>
                      </a:r>
                      <a:r>
                        <a:rPr lang="en-US" sz="1100" u="none" strike="noStrike">
                          <a:effectLst/>
                        </a:rPr>
                        <a:t> To develop foundational knowledge in mathematics and statistics essential for data analysis.</a:t>
                      </a:r>
                      <a:endParaRPr lang="en-US" sz="1000">
                        <a:effectLst/>
                        <a:latin typeface="Calibri"/>
                        <a:ea typeface="等线"/>
                        <a:cs typeface="Times New Roman"/>
                      </a:endParaRPr>
                    </a:p>
                  </a:txBody>
                  <a:tcPr marL="65458" marR="65458" marT="0" marB="0" anchor="ctr"/>
                </a:tc>
              </a:tr>
              <a:tr h="293350">
                <a:tc>
                  <a:txBody>
                    <a:bodyPr/>
                    <a:lstStyle/>
                    <a:p>
                      <a:pPr algn="l" fontAlgn="ctr">
                        <a:spcAft>
                          <a:spcPts val="0"/>
                        </a:spcAft>
                      </a:pPr>
                      <a:r>
                        <a:rPr lang="en-US" sz="1100">
                          <a:effectLst/>
                        </a:rPr>
                        <a:t>CO3:</a:t>
                      </a:r>
                      <a:r>
                        <a:rPr lang="en-US" sz="1100" u="none" strike="noStrike">
                          <a:effectLst/>
                        </a:rPr>
                        <a:t> To understand the role and types of machine learning techniques used in Data Science.</a:t>
                      </a:r>
                      <a:endParaRPr lang="en-US" sz="1000">
                        <a:effectLst/>
                        <a:latin typeface="Calibri"/>
                        <a:ea typeface="等线"/>
                        <a:cs typeface="Times New Roman"/>
                      </a:endParaRPr>
                    </a:p>
                  </a:txBody>
                  <a:tcPr marL="65458" marR="65458" marT="0" marB="0" anchor="ctr"/>
                </a:tc>
              </a:tr>
              <a:tr h="293350">
                <a:tc>
                  <a:txBody>
                    <a:bodyPr/>
                    <a:lstStyle/>
                    <a:p>
                      <a:pPr algn="l" fontAlgn="ctr">
                        <a:spcAft>
                          <a:spcPts val="0"/>
                        </a:spcAft>
                      </a:pPr>
                      <a:r>
                        <a:rPr lang="en-US" sz="1100">
                          <a:effectLst/>
                        </a:rPr>
                        <a:t>CO4:</a:t>
                      </a:r>
                      <a:r>
                        <a:rPr lang="en-US" sz="1100" u="none" strike="noStrike">
                          <a:effectLst/>
                        </a:rPr>
                        <a:t> To familiarize students with computer systems, tools, and components used in Data Science workflows.</a:t>
                      </a:r>
                      <a:endParaRPr lang="en-US" sz="1000">
                        <a:effectLst/>
                        <a:latin typeface="Calibri"/>
                        <a:ea typeface="等线"/>
                        <a:cs typeface="Times New Roman"/>
                      </a:endParaRPr>
                    </a:p>
                  </a:txBody>
                  <a:tcPr marL="65458" marR="65458" marT="0" marB="0" anchor="ctr"/>
                </a:tc>
              </a:tr>
              <a:tr h="293350">
                <a:tc>
                  <a:txBody>
                    <a:bodyPr/>
                    <a:lstStyle/>
                    <a:p>
                      <a:pPr algn="l" fontAlgn="ctr">
                        <a:spcAft>
                          <a:spcPts val="0"/>
                        </a:spcAft>
                      </a:pPr>
                      <a:r>
                        <a:rPr lang="en-US" sz="1100" dirty="0">
                          <a:effectLst/>
                        </a:rPr>
                        <a:t>CO5:</a:t>
                      </a:r>
                      <a:r>
                        <a:rPr lang="en-US" sz="1100" u="none" strike="noStrike" dirty="0">
                          <a:effectLst/>
                        </a:rPr>
                        <a:t> To enable students to apply machine learning techniques for data-driven decision-making.</a:t>
                      </a:r>
                      <a:endParaRPr lang="en-US" sz="1000" dirty="0">
                        <a:effectLst/>
                        <a:latin typeface="Calibri"/>
                        <a:ea typeface="等线"/>
                        <a:cs typeface="Times New Roman"/>
                      </a:endParaRPr>
                    </a:p>
                  </a:txBody>
                  <a:tcPr marL="65458" marR="65458" marT="0" marB="0" anchor="ctr"/>
                </a:tc>
              </a:tr>
            </a:tbl>
          </a:graphicData>
        </a:graphic>
      </p:graphicFrame>
    </p:spTree>
    <p:extLst>
      <p:ext uri="{BB962C8B-B14F-4D97-AF65-F5344CB8AC3E}">
        <p14:creationId xmlns:p14="http://schemas.microsoft.com/office/powerpoint/2010/main" val="1210374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9B5FAFCA-84A3-AC13-FA3A-E454AA1583E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4F1894E9-0D93-791E-C7E9-841ADB13C07D}"/>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89BC7A8F-BED6-CEAF-5EE9-5779D2F016F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E7E62E79-8512-7CF2-3111-C21C6969D36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Importance of Subject</a:t>
              </a:r>
            </a:p>
          </p:txBody>
        </p:sp>
      </p:grpSp>
      <p:sp>
        <p:nvSpPr>
          <p:cNvPr id="8" name="TextBox 7"/>
          <p:cNvSpPr txBox="1"/>
          <p:nvPr/>
        </p:nvSpPr>
        <p:spPr>
          <a:xfrm>
            <a:off x="8709003" y="85987"/>
            <a:ext cx="383438" cy="307777"/>
          </a:xfrm>
          <a:prstGeom prst="rect">
            <a:avLst/>
          </a:prstGeom>
          <a:noFill/>
        </p:spPr>
        <p:txBody>
          <a:bodyPr wrap="none" rtlCol="0">
            <a:spAutoFit/>
          </a:bodyPr>
          <a:lstStyle/>
          <a:p>
            <a:r>
              <a:rPr lang="en-IN" dirty="0"/>
              <a:t>17</a:t>
            </a:r>
          </a:p>
        </p:txBody>
      </p:sp>
      <p:sp>
        <p:nvSpPr>
          <p:cNvPr id="3" name="TextBox 2">
            <a:extLst>
              <a:ext uri="{FF2B5EF4-FFF2-40B4-BE49-F238E27FC236}">
                <a16:creationId xmlns:a16="http://schemas.microsoft.com/office/drawing/2014/main" xmlns="" id="{1A5F143A-F9B3-7094-8A02-048E187AEED4}"/>
              </a:ext>
            </a:extLst>
          </p:cNvPr>
          <p:cNvSpPr txBox="1"/>
          <p:nvPr/>
        </p:nvSpPr>
        <p:spPr>
          <a:xfrm>
            <a:off x="516673" y="1163056"/>
            <a:ext cx="4572000" cy="2246769"/>
          </a:xfrm>
          <a:prstGeom prst="rect">
            <a:avLst/>
          </a:prstGeom>
          <a:noFill/>
        </p:spPr>
        <p:txBody>
          <a:bodyPr wrap="square">
            <a:spAutoFit/>
          </a:bodyPr>
          <a:lstStyle/>
          <a:p>
            <a:pPr algn="just"/>
            <a:r>
              <a:rPr lang="en-US" dirty="0"/>
              <a:t>Data science is important because it extracts actionable insights from vast amounts of data to improve decision-making, drive innovation, and solve complex problems across various sectors like business, healthcare, and technology. It enables companies to understand customers better, optimize operations, and predict future trends, while also helping researchers make evidence-based discoveries and government agencies address global challenges. Essentially, it transforms raw data into strategic advantages. </a:t>
            </a:r>
            <a:r>
              <a:rPr lang="en-US" dirty="0" smtClean="0"/>
              <a:t>.</a:t>
            </a:r>
            <a:endParaRPr lang="en-IN" dirty="0"/>
          </a:p>
        </p:txBody>
      </p:sp>
      <p:sp>
        <p:nvSpPr>
          <p:cNvPr id="4" name="AutoShape 2" descr="Unlock Data Science &amp; Data Analytic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4627" y="1103586"/>
            <a:ext cx="3381189" cy="3095832"/>
          </a:xfrm>
          <a:prstGeom prst="rect">
            <a:avLst/>
          </a:prstGeom>
        </p:spPr>
      </p:pic>
    </p:spTree>
    <p:extLst>
      <p:ext uri="{BB962C8B-B14F-4D97-AF65-F5344CB8AC3E}">
        <p14:creationId xmlns:p14="http://schemas.microsoft.com/office/powerpoint/2010/main" val="2008896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C65CD085-9D81-1F6C-1843-EC20D8027E9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A594DA05-718F-8922-09BF-0B0C89A1A5A2}"/>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83905778-680B-E7B5-C5BA-B4F84B70B787}"/>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DD80FC11-D988-9AD8-9D71-BF451376BDBD}"/>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Applications of the Subject</a:t>
              </a:r>
            </a:p>
          </p:txBody>
        </p:sp>
      </p:grpSp>
      <p:sp>
        <p:nvSpPr>
          <p:cNvPr id="6" name="TextBox 5">
            <a:extLst>
              <a:ext uri="{FF2B5EF4-FFF2-40B4-BE49-F238E27FC236}">
                <a16:creationId xmlns:a16="http://schemas.microsoft.com/office/drawing/2014/main" xmlns="" id="{A14CD9A9-B305-102B-DD14-E5C91A7123B7}"/>
              </a:ext>
            </a:extLst>
          </p:cNvPr>
          <p:cNvSpPr txBox="1"/>
          <p:nvPr/>
        </p:nvSpPr>
        <p:spPr>
          <a:xfrm>
            <a:off x="5669645" y="4469071"/>
            <a:ext cx="3045901" cy="215444"/>
          </a:xfrm>
          <a:prstGeom prst="rect">
            <a:avLst/>
          </a:prstGeom>
          <a:noFill/>
        </p:spPr>
        <p:txBody>
          <a:bodyPr wrap="square">
            <a:spAutoFit/>
          </a:bodyPr>
          <a:lstStyle/>
          <a:p>
            <a:pPr algn="just"/>
            <a:r>
              <a:rPr lang="en-US" sz="8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Figure-1 </a:t>
            </a:r>
            <a:r>
              <a:rPr lang="en-US" sz="800" b="1" dirty="0">
                <a:solidFill>
                  <a:schemeClr val="bg2"/>
                </a:solidFill>
                <a:latin typeface="Calibri" panose="020F0502020204030204" pitchFamily="34" charset="0"/>
                <a:ea typeface="Calibri" panose="020F0502020204030204" pitchFamily="34" charset="0"/>
                <a:cs typeface="Calibri" panose="020F0502020204030204" pitchFamily="34" charset="0"/>
              </a:rPr>
              <a:t>: Applications </a:t>
            </a:r>
            <a:r>
              <a:rPr lang="en-US" sz="800" b="1" dirty="0" smtClean="0">
                <a:solidFill>
                  <a:schemeClr val="bg2"/>
                </a:solidFill>
                <a:latin typeface="Calibri" panose="020F0502020204030204" pitchFamily="34" charset="0"/>
                <a:ea typeface="Calibri" panose="020F0502020204030204" pitchFamily="34" charset="0"/>
                <a:cs typeface="Calibri" panose="020F0502020204030204" pitchFamily="34" charset="0"/>
              </a:rPr>
              <a:t>of Data Science</a:t>
            </a:r>
            <a:endParaRPr lang="en-US" sz="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p:cNvSpPr txBox="1"/>
          <p:nvPr/>
        </p:nvSpPr>
        <p:spPr>
          <a:xfrm>
            <a:off x="8709003" y="85987"/>
            <a:ext cx="383438" cy="307777"/>
          </a:xfrm>
          <a:prstGeom prst="rect">
            <a:avLst/>
          </a:prstGeom>
          <a:noFill/>
        </p:spPr>
        <p:txBody>
          <a:bodyPr wrap="none" rtlCol="0">
            <a:spAutoFit/>
          </a:bodyPr>
          <a:lstStyle/>
          <a:p>
            <a:r>
              <a:rPr lang="en-IN" dirty="0"/>
              <a:t>18</a:t>
            </a:r>
          </a:p>
        </p:txBody>
      </p:sp>
      <p:sp>
        <p:nvSpPr>
          <p:cNvPr id="3" name="TextBox 2">
            <a:extLst>
              <a:ext uri="{FF2B5EF4-FFF2-40B4-BE49-F238E27FC236}">
                <a16:creationId xmlns:a16="http://schemas.microsoft.com/office/drawing/2014/main" xmlns="" id="{286A846E-FCF4-98C6-01FB-CC8333FE527D}"/>
              </a:ext>
            </a:extLst>
          </p:cNvPr>
          <p:cNvSpPr txBox="1"/>
          <p:nvPr/>
        </p:nvSpPr>
        <p:spPr>
          <a:xfrm>
            <a:off x="200720" y="1389870"/>
            <a:ext cx="5348741" cy="2246769"/>
          </a:xfrm>
          <a:prstGeom prst="rect">
            <a:avLst/>
          </a:prstGeom>
          <a:noFill/>
        </p:spPr>
        <p:txBody>
          <a:bodyPr wrap="square">
            <a:spAutoFit/>
          </a:bodyPr>
          <a:lstStyle/>
          <a:p>
            <a:pPr algn="just"/>
            <a:r>
              <a:rPr lang="en-US" dirty="0"/>
              <a:t>Data science is applied across many sectors to analyze data, build predictive models, and find patterns for informed decision-making. Key applications include </a:t>
            </a:r>
            <a:r>
              <a:rPr lang="en-US" b="1" dirty="0"/>
              <a:t>healthcare</a:t>
            </a:r>
            <a:r>
              <a:rPr lang="en-US" dirty="0"/>
              <a:t> (diagnostics, personalized treatment), </a:t>
            </a:r>
            <a:r>
              <a:rPr lang="en-US" b="1" dirty="0"/>
              <a:t>finance</a:t>
            </a:r>
            <a:r>
              <a:rPr lang="en-US" dirty="0"/>
              <a:t> (fraud detection, risk management), </a:t>
            </a:r>
            <a:r>
              <a:rPr lang="en-US" b="1" dirty="0"/>
              <a:t>e-commerce</a:t>
            </a:r>
            <a:r>
              <a:rPr lang="en-US" dirty="0"/>
              <a:t> (recommendation systems, customer behavior prediction), </a:t>
            </a:r>
            <a:r>
              <a:rPr lang="en-US" b="1" dirty="0"/>
              <a:t>transportation</a:t>
            </a:r>
            <a:r>
              <a:rPr lang="en-US" dirty="0"/>
              <a:t> (route optimization, predictive maintenance), and </a:t>
            </a:r>
            <a:r>
              <a:rPr lang="en-US" b="1" dirty="0"/>
              <a:t>marketing</a:t>
            </a:r>
            <a:r>
              <a:rPr lang="en-US" dirty="0"/>
              <a:t> (targeted advertising, sentiment analysis). Other uses include natural language processing, image and speech recognition, gaming, and manufacturing optimization.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7610" y="1444120"/>
            <a:ext cx="3909969" cy="2869325"/>
          </a:xfrm>
          <a:prstGeom prst="rect">
            <a:avLst/>
          </a:prstGeom>
        </p:spPr>
      </p:pic>
    </p:spTree>
    <p:extLst>
      <p:ext uri="{BB962C8B-B14F-4D97-AF65-F5344CB8AC3E}">
        <p14:creationId xmlns:p14="http://schemas.microsoft.com/office/powerpoint/2010/main" val="1089846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Syllabus (Theory)</a:t>
              </a:r>
            </a:p>
          </p:txBody>
        </p:sp>
      </p:grpSp>
      <p:sp>
        <p:nvSpPr>
          <p:cNvPr id="7" name="TextBox 6"/>
          <p:cNvSpPr txBox="1"/>
          <p:nvPr/>
        </p:nvSpPr>
        <p:spPr>
          <a:xfrm>
            <a:off x="8709003" y="85987"/>
            <a:ext cx="383438" cy="307777"/>
          </a:xfrm>
          <a:prstGeom prst="rect">
            <a:avLst/>
          </a:prstGeom>
          <a:noFill/>
        </p:spPr>
        <p:txBody>
          <a:bodyPr wrap="none" rtlCol="0">
            <a:spAutoFit/>
          </a:bodyPr>
          <a:lstStyle/>
          <a:p>
            <a:r>
              <a:rPr lang="en-IN" dirty="0"/>
              <a:t>19</a:t>
            </a:r>
          </a:p>
        </p:txBody>
      </p:sp>
      <p:graphicFrame>
        <p:nvGraphicFramePr>
          <p:cNvPr id="3" name="Table 2"/>
          <p:cNvGraphicFramePr>
            <a:graphicFrameLocks noGrp="1"/>
          </p:cNvGraphicFramePr>
          <p:nvPr>
            <p:extLst>
              <p:ext uri="{D42A27DB-BD31-4B8C-83A1-F6EECF244321}">
                <p14:modId xmlns:p14="http://schemas.microsoft.com/office/powerpoint/2010/main" val="1400135210"/>
              </p:ext>
            </p:extLst>
          </p:nvPr>
        </p:nvGraphicFramePr>
        <p:xfrm>
          <a:off x="826112" y="845033"/>
          <a:ext cx="7826003" cy="3741620"/>
        </p:xfrm>
        <a:graphic>
          <a:graphicData uri="http://schemas.openxmlformats.org/drawingml/2006/table">
            <a:tbl>
              <a:tblPr bandRow="1">
                <a:tableStyleId>{5940675A-B579-460E-94D1-54222C63F5DA}</a:tableStyleId>
              </a:tblPr>
              <a:tblGrid>
                <a:gridCol w="1515863"/>
                <a:gridCol w="5567576"/>
                <a:gridCol w="742564"/>
              </a:tblGrid>
              <a:tr h="335742">
                <a:tc>
                  <a:txBody>
                    <a:bodyPr/>
                    <a:lstStyle/>
                    <a:p>
                      <a:pPr>
                        <a:lnSpc>
                          <a:spcPct val="107000"/>
                        </a:lnSpc>
                        <a:spcAft>
                          <a:spcPts val="800"/>
                        </a:spcAft>
                      </a:pPr>
                      <a:r>
                        <a:rPr lang="en-IN" sz="900" dirty="0" smtClean="0">
                          <a:effectLst/>
                        </a:rPr>
                        <a:t>Unit-1 </a:t>
                      </a:r>
                      <a:endParaRPr lang="en-US" sz="1100" b="1" dirty="0">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(Data Science	 - An Overview)</a:t>
                      </a:r>
                      <a:endParaRPr lang="en-US" sz="1100" b="1">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Contact Hours:15</a:t>
                      </a:r>
                      <a:endParaRPr lang="en-US" sz="1100" b="1">
                        <a:solidFill>
                          <a:schemeClr val="bg2"/>
                        </a:solidFill>
                        <a:effectLst/>
                        <a:latin typeface="Calibri"/>
                        <a:ea typeface="Calibri"/>
                        <a:cs typeface="Times New Roman"/>
                      </a:endParaRPr>
                    </a:p>
                  </a:txBody>
                  <a:tcPr marL="64639" marR="64639" marT="0" marB="0"/>
                </a:tc>
              </a:tr>
              <a:tr h="329615">
                <a:tc>
                  <a:txBody>
                    <a:bodyPr/>
                    <a:lstStyle/>
                    <a:p>
                      <a:pPr>
                        <a:lnSpc>
                          <a:spcPct val="107000"/>
                        </a:lnSpc>
                        <a:spcAft>
                          <a:spcPts val="800"/>
                        </a:spcAft>
                      </a:pPr>
                      <a:r>
                        <a:rPr lang="en-IN" sz="900">
                          <a:effectLst/>
                        </a:rPr>
                        <a:t>Introduction</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rPr>
                        <a:t>Introduction to Data Science, Definition and description, terminologies, Overview of Data Science techniques, challenges and opportunities in Data Science</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335742">
                <a:tc>
                  <a:txBody>
                    <a:bodyPr/>
                    <a:lstStyle/>
                    <a:p>
                      <a:pPr>
                        <a:lnSpc>
                          <a:spcPct val="107000"/>
                        </a:lnSpc>
                        <a:spcAft>
                          <a:spcPts val="800"/>
                        </a:spcAft>
                      </a:pPr>
                      <a:r>
                        <a:rPr lang="en-IN" sz="900">
                          <a:effectLst/>
                        </a:rPr>
                        <a:t>Data Science and Business Analytics</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rPr>
                        <a:t>Difference between Data Science and business analytics, importance of Data Science, primary components of Data Science, users of Data Science and its hierarchy</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335742">
                <a:tc>
                  <a:txBody>
                    <a:bodyPr/>
                    <a:lstStyle/>
                    <a:p>
                      <a:pPr>
                        <a:lnSpc>
                          <a:spcPct val="107000"/>
                        </a:lnSpc>
                        <a:spcAft>
                          <a:spcPts val="800"/>
                        </a:spcAft>
                      </a:pPr>
                      <a:r>
                        <a:rPr lang="en-IN" sz="900">
                          <a:effectLst/>
                          <a:highlight>
                            <a:srgbClr val="FFFFFF"/>
                          </a:highlight>
                        </a:rPr>
                        <a:t>Linear Algebra for Data Science</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highlight>
                            <a:srgbClr val="FFFFFF"/>
                          </a:highlight>
                        </a:rPr>
                        <a:t>Algebraic view - vectors, matrices, product of matrix &amp; vector, rank, null space, solution of overdetermined set of equations and pseudo-inverse , Geometric view - vectors, distance, projections, eigenvalue decomposition</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335742">
                <a:tc>
                  <a:txBody>
                    <a:bodyPr/>
                    <a:lstStyle/>
                    <a:p>
                      <a:pPr>
                        <a:lnSpc>
                          <a:spcPct val="107000"/>
                        </a:lnSpc>
                        <a:spcAft>
                          <a:spcPts val="800"/>
                        </a:spcAft>
                      </a:pPr>
                      <a:r>
                        <a:rPr lang="en-IN" sz="900">
                          <a:effectLst/>
                        </a:rPr>
                        <a:t>Unit-2</a:t>
                      </a:r>
                      <a:endParaRPr lang="en-US" sz="1100" b="1">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(Mathematics and Statistics in Data Science)</a:t>
                      </a:r>
                      <a:endParaRPr lang="en-US" sz="1100" b="1">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Contact Hours:15</a:t>
                      </a:r>
                      <a:endParaRPr lang="en-US" sz="1100" b="1">
                        <a:solidFill>
                          <a:schemeClr val="bg2"/>
                        </a:solidFill>
                        <a:effectLst/>
                        <a:latin typeface="Calibri"/>
                        <a:ea typeface="Calibri"/>
                        <a:cs typeface="Times New Roman"/>
                      </a:endParaRPr>
                    </a:p>
                  </a:txBody>
                  <a:tcPr marL="64639" marR="64639" marT="0" marB="0"/>
                </a:tc>
              </a:tr>
              <a:tr h="480944">
                <a:tc>
                  <a:txBody>
                    <a:bodyPr/>
                    <a:lstStyle/>
                    <a:p>
                      <a:pPr>
                        <a:lnSpc>
                          <a:spcPct val="107000"/>
                        </a:lnSpc>
                        <a:spcAft>
                          <a:spcPts val="800"/>
                        </a:spcAft>
                      </a:pPr>
                      <a:r>
                        <a:rPr lang="en-IN" sz="900">
                          <a:effectLst/>
                        </a:rPr>
                        <a:t>Mathematics in Data Science</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rPr>
                        <a:t>Role of mathematics, importance of probability and statistics, important types of statistical measures: Descriptive, Predictive and prescriptive statistics, exploratory data analysis and visualization techniques, difference between exploratory and descriptive statistics</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569168">
                <a:tc>
                  <a:txBody>
                    <a:bodyPr/>
                    <a:lstStyle/>
                    <a:p>
                      <a:pPr>
                        <a:lnSpc>
                          <a:spcPct val="107000"/>
                        </a:lnSpc>
                        <a:spcAft>
                          <a:spcPts val="800"/>
                        </a:spcAft>
                      </a:pPr>
                      <a:r>
                        <a:rPr lang="en-IN" sz="900">
                          <a:effectLst/>
                          <a:highlight>
                            <a:srgbClr val="FFFFFF"/>
                          </a:highlight>
                        </a:rPr>
                        <a:t>Statistics in Data Science</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highlight>
                            <a:srgbClr val="FFFFFF"/>
                          </a:highlight>
                        </a:rPr>
                        <a:t>Statistical Modelling, descriptive statistics, notion of probability, distributions, mean, variance, covariance, covariance matrix, understanding univariate and multivariate normal distributions, introduction to hypothesis testing, confidence interval for estimates, Optimization for Data Science, Unconstrained Multivariate Optimization, Gradient ( Steepest ) Descent ( OR ) Learning Rule</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335742">
                <a:tc>
                  <a:txBody>
                    <a:bodyPr/>
                    <a:lstStyle/>
                    <a:p>
                      <a:pPr>
                        <a:lnSpc>
                          <a:spcPct val="107000"/>
                        </a:lnSpc>
                        <a:spcAft>
                          <a:spcPts val="800"/>
                        </a:spcAft>
                      </a:pPr>
                      <a:r>
                        <a:rPr lang="en-IN" sz="900">
                          <a:effectLst/>
                        </a:rPr>
                        <a:t>Unit-3</a:t>
                      </a:r>
                      <a:endParaRPr lang="en-US" sz="1100" b="1">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(Machine Learning in Data Science)</a:t>
                      </a:r>
                      <a:endParaRPr lang="en-US" sz="1100" b="1">
                        <a:solidFill>
                          <a:schemeClr val="bg2"/>
                        </a:solidFill>
                        <a:effectLst/>
                        <a:latin typeface="Calibri"/>
                        <a:ea typeface="Calibri"/>
                        <a:cs typeface="Times New Roman"/>
                      </a:endParaRPr>
                    </a:p>
                  </a:txBody>
                  <a:tcPr marL="64639" marR="64639" marT="0" marB="0"/>
                </a:tc>
                <a:tc>
                  <a:txBody>
                    <a:bodyPr/>
                    <a:lstStyle/>
                    <a:p>
                      <a:pPr>
                        <a:lnSpc>
                          <a:spcPct val="107000"/>
                        </a:lnSpc>
                        <a:spcAft>
                          <a:spcPts val="800"/>
                        </a:spcAft>
                      </a:pPr>
                      <a:r>
                        <a:rPr lang="en-IN" sz="900">
                          <a:effectLst/>
                        </a:rPr>
                        <a:t>Contact Hours:15</a:t>
                      </a:r>
                      <a:endParaRPr lang="en-US" sz="1100" b="1">
                        <a:solidFill>
                          <a:schemeClr val="bg2"/>
                        </a:solidFill>
                        <a:effectLst/>
                        <a:latin typeface="Calibri"/>
                        <a:ea typeface="Calibri"/>
                        <a:cs typeface="Times New Roman"/>
                      </a:endParaRPr>
                    </a:p>
                  </a:txBody>
                  <a:tcPr marL="64639" marR="64639" marT="0" marB="0"/>
                </a:tc>
              </a:tr>
              <a:tr h="335742">
                <a:tc>
                  <a:txBody>
                    <a:bodyPr/>
                    <a:lstStyle/>
                    <a:p>
                      <a:pPr>
                        <a:lnSpc>
                          <a:spcPct val="107000"/>
                        </a:lnSpc>
                        <a:spcAft>
                          <a:spcPts val="800"/>
                        </a:spcAft>
                      </a:pPr>
                      <a:r>
                        <a:rPr lang="en-IN" sz="900">
                          <a:effectLst/>
                        </a:rPr>
                        <a:t>Machine Learning</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a:effectLst/>
                        </a:rPr>
                        <a:t>Role of machine learning, different types of machine learning techniques and its broad scope, Supervised, unsupervised, reinforcement and deep learning, difference between different machine learning techniques, </a:t>
                      </a:r>
                      <a:endParaRPr lang="en-US" sz="1100" b="1">
                        <a:solidFill>
                          <a:schemeClr val="bg2"/>
                        </a:solidFill>
                        <a:effectLst/>
                        <a:latin typeface="Calibri"/>
                        <a:ea typeface="Calibri"/>
                        <a:cs typeface="Times New Roman"/>
                      </a:endParaRPr>
                    </a:p>
                  </a:txBody>
                  <a:tcPr marL="64639" marR="64639" marT="0" marB="0"/>
                </a:tc>
                <a:tc hMerge="1">
                  <a:txBody>
                    <a:bodyPr/>
                    <a:lstStyle/>
                    <a:p>
                      <a:endParaRPr lang="en-US"/>
                    </a:p>
                  </a:txBody>
                  <a:tcPr/>
                </a:tc>
              </a:tr>
              <a:tr h="329615">
                <a:tc>
                  <a:txBody>
                    <a:bodyPr/>
                    <a:lstStyle/>
                    <a:p>
                      <a:pPr>
                        <a:lnSpc>
                          <a:spcPct val="107000"/>
                        </a:lnSpc>
                        <a:spcAft>
                          <a:spcPts val="800"/>
                        </a:spcAft>
                      </a:pPr>
                      <a:r>
                        <a:rPr lang="en-IN" sz="900">
                          <a:effectLst/>
                        </a:rPr>
                        <a:t>Classification and Prediction</a:t>
                      </a:r>
                      <a:endParaRPr lang="en-US" sz="1100" b="1">
                        <a:solidFill>
                          <a:schemeClr val="bg2"/>
                        </a:solidFill>
                        <a:effectLst/>
                        <a:latin typeface="Calibri"/>
                        <a:ea typeface="Calibri"/>
                        <a:cs typeface="Times New Roman"/>
                      </a:endParaRPr>
                    </a:p>
                  </a:txBody>
                  <a:tcPr marL="64639" marR="64639" marT="0" marB="0"/>
                </a:tc>
                <a:tc gridSpan="2">
                  <a:txBody>
                    <a:bodyPr/>
                    <a:lstStyle/>
                    <a:p>
                      <a:pPr>
                        <a:lnSpc>
                          <a:spcPct val="107000"/>
                        </a:lnSpc>
                        <a:spcAft>
                          <a:spcPts val="800"/>
                        </a:spcAft>
                      </a:pPr>
                      <a:r>
                        <a:rPr lang="en-IN" sz="900" dirty="0">
                          <a:effectLst/>
                        </a:rPr>
                        <a:t>Machine learning algorithms, importance of machine learning in today’s business, difference between classification and prediction.</a:t>
                      </a:r>
                      <a:endParaRPr lang="en-US" sz="1100" b="1" dirty="0">
                        <a:solidFill>
                          <a:schemeClr val="bg2"/>
                        </a:solidFill>
                        <a:effectLst/>
                        <a:latin typeface="Calibri"/>
                        <a:ea typeface="Calibri"/>
                        <a:cs typeface="Times New Roman"/>
                      </a:endParaRPr>
                    </a:p>
                  </a:txBody>
                  <a:tcPr marL="64639" marR="64639" marT="0" marB="0"/>
                </a:tc>
                <a:tc hMerge="1">
                  <a:txBody>
                    <a:bodyPr/>
                    <a:lstStyle/>
                    <a:p>
                      <a:endParaRPr lang="en-US"/>
                    </a:p>
                  </a:txBody>
                  <a:tcPr/>
                </a:tc>
              </a:tr>
            </a:tbl>
          </a:graphicData>
        </a:graphic>
      </p:graphicFrame>
    </p:spTree>
    <p:extLst>
      <p:ext uri="{BB962C8B-B14F-4D97-AF65-F5344CB8AC3E}">
        <p14:creationId xmlns:p14="http://schemas.microsoft.com/office/powerpoint/2010/main" val="2104875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latin typeface="+mj-lt"/>
              </a:endParaRPr>
            </a:p>
          </p:txBody>
        </p:sp>
        <p:sp>
          <p:nvSpPr>
            <p:cNvPr id="110" name="Google Shape;110;p2">
              <a:extLst>
                <a:ext uri="{FF2B5EF4-FFF2-40B4-BE49-F238E27FC236}">
                  <a16:creationId xmlns:a16="http://schemas.microsoft.com/office/drawing/2014/main" xmlns=""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dirty="0">
                  <a:solidFill>
                    <a:schemeClr val="bg2"/>
                  </a:solidFill>
                  <a:latin typeface="+mj-lt"/>
                  <a:ea typeface="Calibri" panose="020F0502020204030204" pitchFamily="34" charset="0"/>
                  <a:cs typeface="Calibri" panose="020F0502020204030204" pitchFamily="34" charset="0"/>
                </a:rPr>
                <a:t>MST Model QP</a:t>
              </a:r>
              <a:endParaRPr lang="en-US" sz="4000" b="1" i="0" u="none" strike="noStrike" cap="none" dirty="0">
                <a:solidFill>
                  <a:schemeClr val="bg2"/>
                </a:solidFill>
                <a:latin typeface="+mj-lt"/>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709003" y="85987"/>
            <a:ext cx="383438" cy="307777"/>
          </a:xfrm>
          <a:prstGeom prst="rect">
            <a:avLst/>
          </a:prstGeom>
          <a:noFill/>
        </p:spPr>
        <p:txBody>
          <a:bodyPr wrap="none" rtlCol="0">
            <a:spAutoFit/>
          </a:bodyPr>
          <a:lstStyle/>
          <a:p>
            <a:r>
              <a:rPr lang="en-IN" dirty="0">
                <a:latin typeface="+mj-lt"/>
              </a:rPr>
              <a:t>20</a:t>
            </a:r>
          </a:p>
        </p:txBody>
      </p:sp>
      <p:sp>
        <p:nvSpPr>
          <p:cNvPr id="21" name="TextBox 20">
            <a:extLst>
              <a:ext uri="{FF2B5EF4-FFF2-40B4-BE49-F238E27FC236}">
                <a16:creationId xmlns:a16="http://schemas.microsoft.com/office/drawing/2014/main" xmlns="" id="{F55929CE-AA09-6509-1523-03CFCEABA539}"/>
              </a:ext>
            </a:extLst>
          </p:cNvPr>
          <p:cNvSpPr txBox="1"/>
          <p:nvPr/>
        </p:nvSpPr>
        <p:spPr>
          <a:xfrm>
            <a:off x="1266967" y="993808"/>
            <a:ext cx="7069788" cy="577081"/>
          </a:xfrm>
          <a:prstGeom prst="rect">
            <a:avLst/>
          </a:prstGeom>
          <a:noFill/>
        </p:spPr>
        <p:txBody>
          <a:bodyPr wrap="square">
            <a:spAutoFit/>
          </a:bodyPr>
          <a:lstStyle/>
          <a:p>
            <a:r>
              <a:rPr lang="en-US" sz="1050" b="1" dirty="0">
                <a:latin typeface="+mj-lt"/>
              </a:rPr>
              <a:t>Subject Code</a:t>
            </a:r>
            <a:r>
              <a:rPr lang="en-US" sz="1050" dirty="0">
                <a:latin typeface="+mj-lt"/>
              </a:rPr>
              <a:t>: </a:t>
            </a:r>
            <a:r>
              <a:rPr lang="en-IN" sz="1050" b="1" dirty="0">
                <a:solidFill>
                  <a:schemeClr val="bg2"/>
                </a:solidFill>
                <a:latin typeface="+mj-lt"/>
              </a:rPr>
              <a:t>24CST-281</a:t>
            </a:r>
            <a:endParaRPr lang="en-US" sz="1050" b="1" dirty="0">
              <a:solidFill>
                <a:schemeClr val="bg2"/>
              </a:solidFill>
              <a:latin typeface="+mj-lt"/>
            </a:endParaRPr>
          </a:p>
          <a:p>
            <a:r>
              <a:rPr lang="en-US" sz="1050" b="1" dirty="0" smtClean="0">
                <a:latin typeface="+mj-lt"/>
              </a:rPr>
              <a:t>Subject </a:t>
            </a:r>
            <a:r>
              <a:rPr lang="en-US" sz="1050" b="1" dirty="0">
                <a:latin typeface="+mj-lt"/>
              </a:rPr>
              <a:t>Title</a:t>
            </a:r>
            <a:r>
              <a:rPr lang="en-US" sz="1050" dirty="0">
                <a:latin typeface="+mj-lt"/>
              </a:rPr>
              <a:t>: Introduction to </a:t>
            </a:r>
            <a:r>
              <a:rPr lang="en-US" sz="1050" dirty="0" smtClean="0">
                <a:latin typeface="+mj-lt"/>
              </a:rPr>
              <a:t>Data Science</a:t>
            </a:r>
            <a:r>
              <a:rPr lang="en-US" sz="1050" dirty="0">
                <a:latin typeface="+mj-lt"/>
              </a:rPr>
              <a:t/>
            </a:r>
            <a:br>
              <a:rPr lang="en-US" sz="1050" dirty="0">
                <a:latin typeface="+mj-lt"/>
              </a:rPr>
            </a:br>
            <a:endParaRPr lang="en-US" sz="1050" dirty="0">
              <a:latin typeface="+mj-lt"/>
            </a:endParaRPr>
          </a:p>
        </p:txBody>
      </p:sp>
      <p:sp>
        <p:nvSpPr>
          <p:cNvPr id="2" name="Rectangle 1"/>
          <p:cNvSpPr/>
          <p:nvPr/>
        </p:nvSpPr>
        <p:spPr>
          <a:xfrm>
            <a:off x="1266967" y="1523007"/>
            <a:ext cx="7542804" cy="3108543"/>
          </a:xfrm>
          <a:prstGeom prst="rect">
            <a:avLst/>
          </a:prstGeom>
        </p:spPr>
        <p:txBody>
          <a:bodyPr wrap="square">
            <a:spAutoFit/>
          </a:bodyPr>
          <a:lstStyle/>
          <a:p>
            <a:pPr algn="just">
              <a:lnSpc>
                <a:spcPct val="200000"/>
              </a:lnSpc>
            </a:pPr>
            <a:r>
              <a:rPr lang="en-US" dirty="0">
                <a:latin typeface="+mj-lt"/>
              </a:rPr>
              <a:t>Q1. Define Data Science. Explain its key components with suitable examples.</a:t>
            </a:r>
          </a:p>
          <a:p>
            <a:pPr algn="just">
              <a:lnSpc>
                <a:spcPct val="200000"/>
              </a:lnSpc>
            </a:pPr>
            <a:r>
              <a:rPr lang="en-US" dirty="0">
                <a:latin typeface="+mj-lt"/>
              </a:rPr>
              <a:t>Q2. What do you mean by Data Science terminologies? Explain any four important DS terminologies.</a:t>
            </a:r>
          </a:p>
          <a:p>
            <a:pPr algn="just">
              <a:lnSpc>
                <a:spcPct val="200000"/>
              </a:lnSpc>
            </a:pPr>
            <a:r>
              <a:rPr lang="en-US" dirty="0">
                <a:latin typeface="+mj-lt"/>
              </a:rPr>
              <a:t>Q3. Discuss the evolution of Data Science. How has the field transformed from traditional analytics to modern data-driven systems?</a:t>
            </a:r>
          </a:p>
          <a:p>
            <a:pPr algn="just">
              <a:lnSpc>
                <a:spcPct val="200000"/>
              </a:lnSpc>
            </a:pPr>
            <a:r>
              <a:rPr lang="en-US" dirty="0">
                <a:latin typeface="+mj-lt"/>
              </a:rPr>
              <a:t>Q4. Explain any four major Data Science techniques with real-world applications.</a:t>
            </a:r>
          </a:p>
          <a:p>
            <a:pPr algn="just">
              <a:lnSpc>
                <a:spcPct val="200000"/>
              </a:lnSpc>
            </a:pPr>
            <a:r>
              <a:rPr lang="en-US" dirty="0">
                <a:latin typeface="+mj-lt"/>
              </a:rPr>
              <a:t>Q5. Describe the major challenges faced in Data Science and suggest possible solutions.</a:t>
            </a:r>
          </a:p>
        </p:txBody>
      </p:sp>
    </p:spTree>
    <p:extLst>
      <p:ext uri="{BB962C8B-B14F-4D97-AF65-F5344CB8AC3E}">
        <p14:creationId xmlns:p14="http://schemas.microsoft.com/office/powerpoint/2010/main" val="1900228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0AA26C1E-6888-977C-A53E-33B45E032EF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3D6B612E-E780-6F10-0460-0575AC87756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3E22A122-AB00-F278-6B72-EEB9F2CDD0E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53604055-A93F-E3CE-7984-832DA2DDE22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EST Model QP</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xmlns=""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22</a:t>
            </a:r>
          </a:p>
        </p:txBody>
      </p:sp>
      <p:sp>
        <p:nvSpPr>
          <p:cNvPr id="2" name="Rectangle 1"/>
          <p:cNvSpPr/>
          <p:nvPr/>
        </p:nvSpPr>
        <p:spPr>
          <a:xfrm>
            <a:off x="195492" y="1245130"/>
            <a:ext cx="8829753" cy="3108543"/>
          </a:xfrm>
          <a:prstGeom prst="rect">
            <a:avLst/>
          </a:prstGeom>
        </p:spPr>
        <p:txBody>
          <a:bodyPr wrap="square">
            <a:spAutoFit/>
          </a:bodyPr>
          <a:lstStyle/>
          <a:p>
            <a:r>
              <a:rPr lang="en-US" dirty="0"/>
              <a:t>Q1. Define Data Science. Explain its key components with suitable examples.</a:t>
            </a:r>
          </a:p>
          <a:p>
            <a:r>
              <a:rPr lang="en-US" dirty="0"/>
              <a:t>Q2. What do you mean by Data Science terminologies? Explain any four important DS terminologies.</a:t>
            </a:r>
          </a:p>
          <a:p>
            <a:r>
              <a:rPr lang="en-US" dirty="0"/>
              <a:t>Q3. Discuss the evolution of Data Science. How has the field transformed from traditional analytics to modern data-driven systems?</a:t>
            </a:r>
          </a:p>
          <a:p>
            <a:r>
              <a:rPr lang="en-US" dirty="0"/>
              <a:t>Q4. Explain any four major Data Science techniques with real-world applications.</a:t>
            </a:r>
          </a:p>
          <a:p>
            <a:r>
              <a:rPr lang="en-US" dirty="0"/>
              <a:t>Q5. Describe the major challenges faced in Data Science and suggest possible solutions.</a:t>
            </a:r>
          </a:p>
          <a:p>
            <a:r>
              <a:rPr lang="en-US" dirty="0"/>
              <a:t>Q6. Differentiate between Data Science and Business Analytics with examples.</a:t>
            </a:r>
          </a:p>
          <a:p>
            <a:r>
              <a:rPr lang="en-US" dirty="0"/>
              <a:t>Q7. Explain the primary users and roles involved in a Data Science project lifecycle.</a:t>
            </a:r>
          </a:p>
          <a:p>
            <a:r>
              <a:rPr lang="en-US" dirty="0"/>
              <a:t>Q8. What is the importance of Data Science in today’s industry? Support your answer with examples.</a:t>
            </a:r>
          </a:p>
          <a:p>
            <a:r>
              <a:rPr lang="en-US" dirty="0"/>
              <a:t>Q9. Write short notes on the following (any two):</a:t>
            </a:r>
          </a:p>
          <a:p>
            <a:r>
              <a:rPr lang="en-US" dirty="0"/>
              <a:t>a) Opportunities in Data Science</a:t>
            </a:r>
            <a:br>
              <a:rPr lang="en-US" dirty="0"/>
            </a:br>
            <a:r>
              <a:rPr lang="en-US" dirty="0"/>
              <a:t>b) Components of a Data Science system</a:t>
            </a:r>
            <a:br>
              <a:rPr lang="en-US" dirty="0"/>
            </a:br>
            <a:r>
              <a:rPr lang="en-US" dirty="0"/>
              <a:t>c) Roles of Data Scientist and Data Engineer</a:t>
            </a:r>
          </a:p>
          <a:p>
            <a:r>
              <a:rPr lang="en-US" dirty="0"/>
              <a:t>Q10. Explain vectors and matrices with their relevance in Data Science applications.</a:t>
            </a:r>
          </a:p>
        </p:txBody>
      </p:sp>
    </p:spTree>
    <p:extLst>
      <p:ext uri="{BB962C8B-B14F-4D97-AF65-F5344CB8AC3E}">
        <p14:creationId xmlns:p14="http://schemas.microsoft.com/office/powerpoint/2010/main" val="2083638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Text and 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 Books</a:t>
              </a:r>
            </a:p>
          </p:txBody>
        </p:sp>
      </p:grpSp>
      <p:sp>
        <p:nvSpPr>
          <p:cNvPr id="111" name="Google Shape;111;p2">
            <a:extLst>
              <a:ext uri="{FF2B5EF4-FFF2-40B4-BE49-F238E27FC236}">
                <a16:creationId xmlns:a16="http://schemas.microsoft.com/office/drawing/2014/main" xmlns=""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23</a:t>
            </a:r>
          </a:p>
        </p:txBody>
      </p:sp>
      <p:sp>
        <p:nvSpPr>
          <p:cNvPr id="2" name="Rectangle 1"/>
          <p:cNvSpPr/>
          <p:nvPr/>
        </p:nvSpPr>
        <p:spPr>
          <a:xfrm>
            <a:off x="889175" y="689660"/>
            <a:ext cx="7939515" cy="4401205"/>
          </a:xfrm>
          <a:prstGeom prst="rect">
            <a:avLst/>
          </a:prstGeom>
        </p:spPr>
        <p:txBody>
          <a:bodyPr wrap="square">
            <a:spAutoFit/>
          </a:bodyPr>
          <a:lstStyle/>
          <a:p>
            <a:pPr>
              <a:lnSpc>
                <a:spcPct val="200000"/>
              </a:lnSpc>
            </a:pPr>
            <a:r>
              <a:rPr lang="en-IN" b="1" dirty="0"/>
              <a:t>TEXTBOOKS/REFERENCEBOOKS</a:t>
            </a:r>
            <a:endParaRPr lang="en-US" dirty="0"/>
          </a:p>
          <a:p>
            <a:pPr>
              <a:lnSpc>
                <a:spcPct val="200000"/>
              </a:lnSpc>
            </a:pPr>
            <a:r>
              <a:rPr lang="en-IN" b="1" dirty="0" smtClean="0"/>
              <a:t>TEXTBOOKS</a:t>
            </a:r>
            <a:endParaRPr lang="en-US" b="1" dirty="0"/>
          </a:p>
          <a:p>
            <a:pPr marL="285750" indent="-285750">
              <a:lnSpc>
                <a:spcPct val="200000"/>
              </a:lnSpc>
              <a:buFont typeface="Arial" pitchFamily="34" charset="0"/>
              <a:buChar char="•"/>
            </a:pPr>
            <a:r>
              <a:rPr lang="en-IN" dirty="0"/>
              <a:t>T1 Data Science from Scratch: First Principles with Python 1st Edition by Joel </a:t>
            </a:r>
            <a:r>
              <a:rPr lang="en-IN" dirty="0" err="1"/>
              <a:t>Grus</a:t>
            </a:r>
            <a:endParaRPr lang="en-US" dirty="0"/>
          </a:p>
          <a:p>
            <a:pPr marL="285750" indent="-285750">
              <a:lnSpc>
                <a:spcPct val="200000"/>
              </a:lnSpc>
              <a:buFont typeface="Arial" pitchFamily="34" charset="0"/>
              <a:buChar char="•"/>
            </a:pPr>
            <a:r>
              <a:rPr lang="en-IN" dirty="0"/>
              <a:t>T2Principles of Data Science by </a:t>
            </a:r>
            <a:r>
              <a:rPr lang="en-IN" dirty="0" err="1"/>
              <a:t>SinanOzdemir</a:t>
            </a:r>
            <a:r>
              <a:rPr lang="en-IN" dirty="0"/>
              <a:t>, (2016) PACKT.</a:t>
            </a:r>
            <a:endParaRPr lang="en-US" dirty="0"/>
          </a:p>
          <a:p>
            <a:pPr>
              <a:lnSpc>
                <a:spcPct val="200000"/>
              </a:lnSpc>
            </a:pPr>
            <a:r>
              <a:rPr lang="en-IN" b="1" dirty="0"/>
              <a:t>REFERENCE BOOKS:</a:t>
            </a:r>
            <a:endParaRPr lang="en-US" b="1" dirty="0"/>
          </a:p>
          <a:p>
            <a:pPr marL="285750" indent="-285750">
              <a:lnSpc>
                <a:spcPct val="200000"/>
              </a:lnSpc>
              <a:buFont typeface="Arial" pitchFamily="34" charset="0"/>
              <a:buChar char="•"/>
            </a:pPr>
            <a:r>
              <a:rPr lang="en-IN" dirty="0"/>
              <a:t>R1. Data Science For Dummies by Lillian Pierson (2015)</a:t>
            </a:r>
            <a:endParaRPr lang="en-US" dirty="0"/>
          </a:p>
          <a:p>
            <a:pPr marL="285750" indent="-285750">
              <a:lnSpc>
                <a:spcPct val="200000"/>
              </a:lnSpc>
              <a:buFont typeface="Arial" pitchFamily="34" charset="0"/>
              <a:buChar char="•"/>
            </a:pPr>
            <a:r>
              <a:rPr lang="en-IN" dirty="0"/>
              <a:t>R2. Data Science for Business: What You Need to Know about Data Mining and Data-Analytic Thinking by Foster Provost, Tom Fawcett</a:t>
            </a:r>
            <a:endParaRPr lang="en-US" dirty="0"/>
          </a:p>
          <a:p>
            <a:pPr marL="285750" indent="-285750">
              <a:lnSpc>
                <a:spcPct val="200000"/>
              </a:lnSpc>
              <a:buFont typeface="Arial" pitchFamily="34" charset="0"/>
              <a:buChar char="•"/>
            </a:pPr>
            <a:r>
              <a:rPr lang="en-IN" dirty="0"/>
              <a:t>R3. Data Smart: Using Data Science to Transform Information into Insight 1st Edition by John W. Foreman. (2015) Wiley Publication</a:t>
            </a:r>
            <a:endParaRPr lang="en-US" dirty="0"/>
          </a:p>
        </p:txBody>
      </p:sp>
    </p:spTree>
    <p:extLst>
      <p:ext uri="{BB962C8B-B14F-4D97-AF65-F5344CB8AC3E}">
        <p14:creationId xmlns:p14="http://schemas.microsoft.com/office/powerpoint/2010/main" val="2294786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xmlns="" id="{91D700B6-6EB7-B931-A6BA-3293795C4FD6}"/>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DD12C81D-38E2-6BA8-4944-E9161F70F1EA}"/>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E-Learning links</a:t>
              </a:r>
            </a:p>
          </p:txBody>
        </p:sp>
      </p:grpSp>
      <p:sp>
        <p:nvSpPr>
          <p:cNvPr id="111" name="Google Shape;111;p2">
            <a:extLst>
              <a:ext uri="{FF2B5EF4-FFF2-40B4-BE49-F238E27FC236}">
                <a16:creationId xmlns:a16="http://schemas.microsoft.com/office/drawing/2014/main" xmlns="" id="{5AD00F48-AF9F-87AF-B3AB-2CA9606A4E8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24</a:t>
            </a:r>
          </a:p>
        </p:txBody>
      </p:sp>
      <p:sp>
        <p:nvSpPr>
          <p:cNvPr id="6" name="Rectangle 5"/>
          <p:cNvSpPr/>
          <p:nvPr/>
        </p:nvSpPr>
        <p:spPr>
          <a:xfrm>
            <a:off x="570711" y="1241493"/>
            <a:ext cx="8049873" cy="992579"/>
          </a:xfrm>
          <a:prstGeom prst="rect">
            <a:avLst/>
          </a:prstGeom>
        </p:spPr>
        <p:txBody>
          <a:bodyPr wrap="square">
            <a:spAutoFit/>
          </a:bodyPr>
          <a:lstStyle/>
          <a:p>
            <a:pPr marL="336550" indent="-285750">
              <a:spcBef>
                <a:spcPts val="434"/>
              </a:spcBef>
              <a:buFont typeface="Arial" pitchFamily="34" charset="0"/>
              <a:buChar char="•"/>
            </a:pPr>
            <a:r>
              <a:rPr lang="en-US" dirty="0">
                <a:latin typeface="Tahoma"/>
                <a:cs typeface="Tahoma"/>
              </a:rPr>
              <a:t>Data</a:t>
            </a:r>
            <a:r>
              <a:rPr lang="en-US" spc="-20" dirty="0">
                <a:latin typeface="Tahoma"/>
                <a:cs typeface="Tahoma"/>
              </a:rPr>
              <a:t> </a:t>
            </a:r>
            <a:r>
              <a:rPr lang="en-US" spc="-35" dirty="0">
                <a:latin typeface="Tahoma"/>
                <a:cs typeface="Tahoma"/>
              </a:rPr>
              <a:t>Science</a:t>
            </a:r>
            <a:r>
              <a:rPr lang="en-US" spc="-15" dirty="0">
                <a:latin typeface="Tahoma"/>
                <a:cs typeface="Tahoma"/>
              </a:rPr>
              <a:t> </a:t>
            </a:r>
            <a:r>
              <a:rPr lang="en-US" spc="-20" dirty="0">
                <a:latin typeface="Tahoma"/>
                <a:cs typeface="Tahoma"/>
              </a:rPr>
              <a:t>for</a:t>
            </a:r>
            <a:r>
              <a:rPr lang="en-US" spc="-15" dirty="0">
                <a:latin typeface="Tahoma"/>
                <a:cs typeface="Tahoma"/>
              </a:rPr>
              <a:t> </a:t>
            </a:r>
            <a:r>
              <a:rPr lang="en-US" spc="-30" dirty="0">
                <a:latin typeface="Tahoma"/>
                <a:cs typeface="Tahoma"/>
              </a:rPr>
              <a:t>Engineers”</a:t>
            </a:r>
            <a:r>
              <a:rPr lang="en-US" spc="-20" dirty="0">
                <a:latin typeface="Tahoma"/>
                <a:cs typeface="Tahoma"/>
              </a:rPr>
              <a:t> </a:t>
            </a:r>
            <a:r>
              <a:rPr lang="en-US" spc="80" dirty="0">
                <a:latin typeface="Tahoma"/>
                <a:cs typeface="Tahoma"/>
              </a:rPr>
              <a:t>—</a:t>
            </a:r>
            <a:r>
              <a:rPr lang="en-US" spc="-15" dirty="0">
                <a:latin typeface="Tahoma"/>
                <a:cs typeface="Tahoma"/>
              </a:rPr>
              <a:t> </a:t>
            </a:r>
            <a:r>
              <a:rPr lang="en-US" spc="-10" dirty="0">
                <a:latin typeface="Tahoma"/>
                <a:cs typeface="Tahoma"/>
              </a:rPr>
              <a:t>https://nptel.ac.in/courses/106106179</a:t>
            </a:r>
            <a:endParaRPr lang="en-US" dirty="0">
              <a:latin typeface="Tahoma"/>
              <a:cs typeface="Tahoma"/>
            </a:endParaRPr>
          </a:p>
          <a:p>
            <a:pPr marL="336550" indent="-285750">
              <a:spcBef>
                <a:spcPts val="334"/>
              </a:spcBef>
              <a:buFont typeface="Arial" pitchFamily="34" charset="0"/>
              <a:buChar char="•"/>
            </a:pPr>
            <a:r>
              <a:rPr lang="en-US" dirty="0">
                <a:latin typeface="Tahoma"/>
                <a:cs typeface="Tahoma"/>
              </a:rPr>
              <a:t>“Python</a:t>
            </a:r>
            <a:r>
              <a:rPr lang="en-US" spc="30" dirty="0">
                <a:latin typeface="Tahoma"/>
                <a:cs typeface="Tahoma"/>
              </a:rPr>
              <a:t> </a:t>
            </a:r>
            <a:r>
              <a:rPr lang="en-US" spc="-20" dirty="0">
                <a:latin typeface="Tahoma"/>
                <a:cs typeface="Tahoma"/>
              </a:rPr>
              <a:t>for</a:t>
            </a:r>
            <a:r>
              <a:rPr lang="en-US" spc="35" dirty="0">
                <a:latin typeface="Tahoma"/>
                <a:cs typeface="Tahoma"/>
              </a:rPr>
              <a:t> </a:t>
            </a:r>
            <a:r>
              <a:rPr lang="en-US" dirty="0">
                <a:latin typeface="Tahoma"/>
                <a:cs typeface="Tahoma"/>
              </a:rPr>
              <a:t>Data</a:t>
            </a:r>
            <a:r>
              <a:rPr lang="en-US" spc="35" dirty="0">
                <a:latin typeface="Tahoma"/>
                <a:cs typeface="Tahoma"/>
              </a:rPr>
              <a:t> </a:t>
            </a:r>
            <a:r>
              <a:rPr lang="en-US" spc="-20" dirty="0">
                <a:latin typeface="Tahoma"/>
                <a:cs typeface="Tahoma"/>
              </a:rPr>
              <a:t>Science”</a:t>
            </a:r>
            <a:r>
              <a:rPr lang="en-US" spc="35" dirty="0">
                <a:latin typeface="Tahoma"/>
                <a:cs typeface="Tahoma"/>
              </a:rPr>
              <a:t> </a:t>
            </a:r>
            <a:r>
              <a:rPr lang="en-US" spc="80" dirty="0">
                <a:latin typeface="Tahoma"/>
                <a:cs typeface="Tahoma"/>
              </a:rPr>
              <a:t>—</a:t>
            </a:r>
            <a:r>
              <a:rPr lang="en-US" spc="30" dirty="0">
                <a:latin typeface="Tahoma"/>
                <a:cs typeface="Tahoma"/>
              </a:rPr>
              <a:t> </a:t>
            </a:r>
            <a:r>
              <a:rPr lang="en-US" spc="-35" dirty="0">
                <a:latin typeface="Tahoma"/>
                <a:cs typeface="Tahoma"/>
              </a:rPr>
              <a:t>https://onlinecourses.nptel.ac.in/noc22</a:t>
            </a:r>
            <a:r>
              <a:rPr lang="en-US" sz="1600" i="1" spc="-52" baseline="-10416" dirty="0">
                <a:latin typeface="Franklin Gothic Medium"/>
                <a:cs typeface="Franklin Gothic Medium"/>
              </a:rPr>
              <a:t>c</a:t>
            </a:r>
            <a:r>
              <a:rPr lang="en-US" sz="1600" i="1" spc="-120" baseline="-10416" dirty="0">
                <a:latin typeface="Franklin Gothic Medium"/>
                <a:cs typeface="Franklin Gothic Medium"/>
              </a:rPr>
              <a:t> </a:t>
            </a:r>
            <a:r>
              <a:rPr lang="en-US" i="1" spc="-10" dirty="0">
                <a:latin typeface="Trebuchet MS"/>
                <a:cs typeface="Trebuchet MS"/>
              </a:rPr>
              <a:t>s</a:t>
            </a:r>
            <a:r>
              <a:rPr lang="en-US" spc="-10" dirty="0">
                <a:latin typeface="Tahoma"/>
                <a:cs typeface="Tahoma"/>
              </a:rPr>
              <a:t>32</a:t>
            </a:r>
            <a:r>
              <a:rPr lang="en-US" i="1" spc="-10" dirty="0">
                <a:latin typeface="Sitka Small"/>
                <a:cs typeface="Sitka Small"/>
              </a:rPr>
              <a:t>/</a:t>
            </a:r>
            <a:r>
              <a:rPr lang="en-US" i="1" spc="-10" dirty="0">
                <a:latin typeface="Trebuchet MS"/>
                <a:cs typeface="Trebuchet MS"/>
              </a:rPr>
              <a:t>preview</a:t>
            </a:r>
            <a:endParaRPr lang="en-US" dirty="0">
              <a:latin typeface="Trebuchet MS"/>
              <a:cs typeface="Trebuchet MS"/>
            </a:endParaRPr>
          </a:p>
          <a:p>
            <a:pPr marL="336550" indent="-285750">
              <a:buFont typeface="Arial" pitchFamily="34" charset="0"/>
              <a:buChar char="•"/>
            </a:pPr>
            <a:endParaRPr lang="en-US" dirty="0">
              <a:latin typeface="Tahoma"/>
              <a:cs typeface="Tahoma"/>
            </a:endParaRPr>
          </a:p>
          <a:p>
            <a:pPr marL="336550" indent="-285750">
              <a:buFont typeface="Arial" pitchFamily="34" charset="0"/>
              <a:buChar char="•"/>
            </a:pPr>
            <a:r>
              <a:rPr lang="en-US" dirty="0">
                <a:latin typeface="Tahoma"/>
                <a:cs typeface="Tahoma"/>
              </a:rPr>
              <a:t>“Data</a:t>
            </a:r>
            <a:r>
              <a:rPr lang="en-US" spc="70" dirty="0">
                <a:latin typeface="Tahoma"/>
                <a:cs typeface="Tahoma"/>
              </a:rPr>
              <a:t> </a:t>
            </a:r>
            <a:r>
              <a:rPr lang="en-US" spc="-10" dirty="0">
                <a:latin typeface="Tahoma"/>
                <a:cs typeface="Tahoma"/>
              </a:rPr>
              <a:t>Analytics</a:t>
            </a:r>
            <a:r>
              <a:rPr lang="en-US" spc="75" dirty="0">
                <a:latin typeface="Tahoma"/>
                <a:cs typeface="Tahoma"/>
              </a:rPr>
              <a:t> </a:t>
            </a:r>
            <a:r>
              <a:rPr lang="en-US" dirty="0">
                <a:latin typeface="Tahoma"/>
                <a:cs typeface="Tahoma"/>
              </a:rPr>
              <a:t>with</a:t>
            </a:r>
            <a:r>
              <a:rPr lang="en-US" spc="70" dirty="0">
                <a:latin typeface="Tahoma"/>
                <a:cs typeface="Tahoma"/>
              </a:rPr>
              <a:t> </a:t>
            </a:r>
            <a:r>
              <a:rPr lang="en-US" dirty="0">
                <a:latin typeface="Tahoma"/>
                <a:cs typeface="Tahoma"/>
              </a:rPr>
              <a:t>Python”—</a:t>
            </a:r>
            <a:r>
              <a:rPr lang="en-US" spc="70" dirty="0">
                <a:latin typeface="Tahoma"/>
                <a:cs typeface="Tahoma"/>
              </a:rPr>
              <a:t> </a:t>
            </a:r>
            <a:r>
              <a:rPr lang="en-US" spc="-35" dirty="0">
                <a:latin typeface="Tahoma"/>
                <a:cs typeface="Tahoma"/>
              </a:rPr>
              <a:t>https://onlinecourses.nptel.ac.in/noc25</a:t>
            </a:r>
            <a:r>
              <a:rPr lang="en-US" sz="1600" i="1" spc="-52" baseline="-10416" dirty="0">
                <a:latin typeface="Franklin Gothic Medium"/>
                <a:cs typeface="Franklin Gothic Medium"/>
              </a:rPr>
              <a:t>c</a:t>
            </a:r>
            <a:r>
              <a:rPr lang="en-US" sz="1600" i="1" spc="-97" baseline="-10416" dirty="0">
                <a:latin typeface="Franklin Gothic Medium"/>
                <a:cs typeface="Franklin Gothic Medium"/>
              </a:rPr>
              <a:t> </a:t>
            </a:r>
            <a:r>
              <a:rPr lang="en-US" i="1" spc="-10" dirty="0">
                <a:latin typeface="Trebuchet MS"/>
                <a:cs typeface="Trebuchet MS"/>
              </a:rPr>
              <a:t>s</a:t>
            </a:r>
            <a:r>
              <a:rPr lang="en-US" spc="-10" dirty="0">
                <a:latin typeface="Tahoma"/>
                <a:cs typeface="Tahoma"/>
              </a:rPr>
              <a:t>17</a:t>
            </a:r>
            <a:r>
              <a:rPr lang="en-US" i="1" spc="-10" dirty="0">
                <a:latin typeface="Sitka Small"/>
                <a:cs typeface="Sitka Small"/>
              </a:rPr>
              <a:t>/</a:t>
            </a:r>
            <a:r>
              <a:rPr lang="en-US" i="1" spc="-10" dirty="0">
                <a:latin typeface="Trebuchet MS"/>
                <a:cs typeface="Trebuchet MS"/>
              </a:rPr>
              <a:t>preview</a:t>
            </a:r>
            <a:endParaRPr lang="en-US" dirty="0">
              <a:latin typeface="Trebuchet MS"/>
              <a:cs typeface="Trebuchet MS"/>
            </a:endParaRPr>
          </a:p>
        </p:txBody>
      </p:sp>
    </p:spTree>
    <p:extLst>
      <p:ext uri="{BB962C8B-B14F-4D97-AF65-F5344CB8AC3E}">
        <p14:creationId xmlns:p14="http://schemas.microsoft.com/office/powerpoint/2010/main" val="3288866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C29A6AD2-FBF5-FB65-CB76-302FD86CA2D6}"/>
            </a:ext>
          </a:extLst>
        </p:cNvPr>
        <p:cNvGrpSpPr/>
        <p:nvPr/>
      </p:nvGrpSpPr>
      <p:grpSpPr>
        <a:xfrm>
          <a:off x="0" y="0"/>
          <a:ext cx="0" cy="0"/>
          <a:chOff x="0" y="0"/>
          <a:chExt cx="0" cy="0"/>
        </a:xfrm>
      </p:grpSpPr>
      <p:pic>
        <p:nvPicPr>
          <p:cNvPr id="2" name="Google Shape;302;p23" descr="C:\Users\Abhey Sharma\Downloads\Screenshot (411).png">
            <a:extLst>
              <a:ext uri="{FF2B5EF4-FFF2-40B4-BE49-F238E27FC236}">
                <a16:creationId xmlns:a16="http://schemas.microsoft.com/office/drawing/2014/main" xmlns="" id="{3823407B-F4D0-C82B-5914-C17407C438ED}"/>
              </a:ext>
            </a:extLst>
          </p:cNvPr>
          <p:cNvPicPr preferRelativeResize="0"/>
          <p:nvPr/>
        </p:nvPicPr>
        <p:blipFill rotWithShape="1">
          <a:blip r:embed="rId3">
            <a:alphaModFix/>
          </a:blip>
          <a:srcRect l="1776"/>
          <a:stretch/>
        </p:blipFill>
        <p:spPr>
          <a:xfrm>
            <a:off x="757500" y="806675"/>
            <a:ext cx="8343004" cy="4239441"/>
          </a:xfrm>
          <a:prstGeom prst="rect">
            <a:avLst/>
          </a:prstGeom>
          <a:noFill/>
          <a:ln>
            <a:noFill/>
          </a:ln>
        </p:spPr>
      </p:pic>
      <p:grpSp>
        <p:nvGrpSpPr>
          <p:cNvPr id="108" name="Google Shape;108;p2">
            <a:extLst>
              <a:ext uri="{FF2B5EF4-FFF2-40B4-BE49-F238E27FC236}">
                <a16:creationId xmlns:a16="http://schemas.microsoft.com/office/drawing/2014/main" xmlns="" id="{5171DF80-DFB5-234E-1DB0-C335411E5B6C}"/>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xmlns="" id="{A19F4905-E83D-A8FA-5284-F4812C74374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xmlns="" id="{7D354134-8247-9959-87B8-C0A7E68E0CD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Assessment Model</a:t>
              </a:r>
            </a:p>
          </p:txBody>
        </p:sp>
      </p:grpSp>
      <p:sp>
        <p:nvSpPr>
          <p:cNvPr id="111" name="Google Shape;111;p2">
            <a:extLst>
              <a:ext uri="{FF2B5EF4-FFF2-40B4-BE49-F238E27FC236}">
                <a16:creationId xmlns:a16="http://schemas.microsoft.com/office/drawing/2014/main" xmlns="" id="{E10216B0-5AC6-BCCB-9691-34803CE8310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26</a:t>
            </a:r>
          </a:p>
        </p:txBody>
      </p:sp>
    </p:spTree>
    <p:extLst>
      <p:ext uri="{BB962C8B-B14F-4D97-AF65-F5344CB8AC3E}">
        <p14:creationId xmlns:p14="http://schemas.microsoft.com/office/powerpoint/2010/main" val="2921547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xmlns=""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xmlns=""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xmlns=""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4" name="TextBox 3"/>
          <p:cNvSpPr txBox="1"/>
          <p:nvPr/>
        </p:nvSpPr>
        <p:spPr>
          <a:xfrm>
            <a:off x="8709003" y="85987"/>
            <a:ext cx="383438" cy="307777"/>
          </a:xfrm>
          <a:prstGeom prst="rect">
            <a:avLst/>
          </a:prstGeom>
          <a:noFill/>
        </p:spPr>
        <p:txBody>
          <a:bodyPr wrap="none" rtlCol="0">
            <a:spAutoFit/>
          </a:bodyPr>
          <a:lstStyle/>
          <a:p>
            <a:r>
              <a:rPr lang="en-IN" dirty="0"/>
              <a:t>27</a:t>
            </a:r>
          </a:p>
        </p:txBody>
      </p:sp>
      <p:sp>
        <p:nvSpPr>
          <p:cNvPr id="5" name="object 3"/>
          <p:cNvSpPr txBox="1"/>
          <p:nvPr/>
        </p:nvSpPr>
        <p:spPr>
          <a:xfrm>
            <a:off x="3577022" y="3493542"/>
            <a:ext cx="2088514" cy="471805"/>
          </a:xfrm>
          <a:prstGeom prst="rect">
            <a:avLst/>
          </a:prstGeom>
        </p:spPr>
        <p:txBody>
          <a:bodyPr vert="horz" wrap="square" lIns="0" tIns="17145" rIns="0" bIns="0" rtlCol="0">
            <a:spAutoFit/>
          </a:bodyPr>
          <a:lstStyle/>
          <a:p>
            <a:pPr algn="ctr">
              <a:lnSpc>
                <a:spcPct val="100000"/>
              </a:lnSpc>
              <a:spcBef>
                <a:spcPts val="135"/>
              </a:spcBef>
            </a:pPr>
            <a:r>
              <a:rPr sz="1400" b="1" dirty="0">
                <a:latin typeface="Arial"/>
                <a:cs typeface="Arial"/>
              </a:rPr>
              <a:t>For</a:t>
            </a:r>
            <a:r>
              <a:rPr sz="1400" b="1" spc="-15" dirty="0">
                <a:latin typeface="Arial"/>
                <a:cs typeface="Arial"/>
              </a:rPr>
              <a:t> </a:t>
            </a:r>
            <a:r>
              <a:rPr sz="1400" b="1" spc="-10" dirty="0">
                <a:latin typeface="Arial"/>
                <a:cs typeface="Arial"/>
              </a:rPr>
              <a:t>queries</a:t>
            </a:r>
            <a:endParaRPr sz="1400" dirty="0">
              <a:latin typeface="Arial"/>
              <a:cs typeface="Arial"/>
            </a:endParaRPr>
          </a:p>
          <a:p>
            <a:pPr algn="ctr">
              <a:lnSpc>
                <a:spcPct val="100000"/>
              </a:lnSpc>
              <a:spcBef>
                <a:spcPts val="110"/>
              </a:spcBef>
            </a:pPr>
            <a:r>
              <a:rPr sz="1400" spc="90" dirty="0">
                <a:latin typeface="Calibri"/>
                <a:cs typeface="Calibri"/>
                <a:hlinkClick r:id="rId3"/>
              </a:rPr>
              <a:t>ankit.e19315@cumail.in</a:t>
            </a:r>
            <a:endParaRPr sz="1400" dirty="0">
              <a:latin typeface="Calibri"/>
              <a:cs typeface="Calibri"/>
            </a:endParaRP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875</TotalTime>
  <Words>1659</Words>
  <Application>Microsoft Office PowerPoint</Application>
  <PresentationFormat>On-screen Show (16:9)</PresentationFormat>
  <Paragraphs>325</Paragraphs>
  <Slides>24</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Vladimir Script</vt:lpstr>
      <vt:lpstr>等线</vt:lpstr>
      <vt:lpstr>Franklin Gothic Medium</vt:lpstr>
      <vt:lpstr>Cambria</vt:lpstr>
      <vt:lpstr>Trebuchet MS</vt:lpstr>
      <vt:lpstr>Times New Roman</vt:lpstr>
      <vt:lpstr>Calibri</vt:lpstr>
      <vt:lpstr>Sitka Small</vt:lpstr>
      <vt:lpstr>Lato</vt:lpstr>
      <vt:lpstr>Tahoma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AV</cp:lastModifiedBy>
  <cp:revision>90</cp:revision>
  <dcterms:modified xsi:type="dcterms:W3CDTF">2025-12-07T15:16:50Z</dcterms:modified>
</cp:coreProperties>
</file>